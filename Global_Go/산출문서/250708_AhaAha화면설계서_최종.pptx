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4" r:id="rId11"/>
    <p:sldId id="310" r:id="rId12"/>
    <p:sldId id="315" r:id="rId13"/>
    <p:sldId id="316" r:id="rId14"/>
    <p:sldId id="317" r:id="rId15"/>
  </p:sldIdLst>
  <p:sldSz cx="12192000" cy="6858000"/>
  <p:notesSz cx="6858000" cy="9144000"/>
  <p:embeddedFontLst>
    <p:embeddedFont>
      <p:font typeface="맑은 고딕" panose="020B0503020000020004" pitchFamily="34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59B6"/>
    <a:srgbClr val="FFE500"/>
    <a:srgbClr val="C5BFE3"/>
    <a:srgbClr val="897FC7"/>
    <a:srgbClr val="CCC7E7"/>
    <a:srgbClr val="9D94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5" autoAdjust="0"/>
    <p:restoredTop sz="94444" autoAdjust="0"/>
  </p:normalViewPr>
  <p:slideViewPr>
    <p:cSldViewPr snapToGrid="0">
      <p:cViewPr>
        <p:scale>
          <a:sx n="75" d="100"/>
          <a:sy n="75" d="100"/>
        </p:scale>
        <p:origin x="54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888C7-EE56-4E86-9823-2146F623B917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F76EB-9334-45FB-ACE9-B095436AA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729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F76EB-9334-45FB-ACE9-B095436AAE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47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4B041-7AB5-7DFC-3622-C4AC1AEF5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EDCD9F-B8EE-18B6-DF47-87C6B90C0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CCEB0C-75B5-5A04-3850-9CDE072F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192A4-5479-D17E-5E8D-B0F267E4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925C66-1440-E3CC-9967-5D5A0DFD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54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6CF54F-A129-0BF8-A44B-C9A77C95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4EDD2-E031-6B64-B463-47ED06ED8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6FF9C-BE2E-153A-70D3-104CA2FD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6C3F9-0E1A-EFAA-DB57-BCF1F5F0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57B748-2DF3-905E-416F-6268C0EE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45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23058-FFEB-3D80-1D68-1389CFF7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14348C-CA61-4781-8EEA-58BA1B0BF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3EC41-6E13-F8D4-9C79-D482D786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47BA25-3C6F-5B7F-0B05-B439603A6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35BA1-52BC-BA61-93FF-7830DF33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19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F84BD-CA29-8E70-6B8D-7B8F3F31A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AAAAE-9FC2-40C7-ABF2-33578A058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9CCAFD-38D8-766E-C0C3-E0B7D61FD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083EAE-A8F3-4837-B5FD-7DE1A985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FCCB1-7358-08BF-D952-DF33E817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AA8395-8389-13E1-9C8E-DE30D4C4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36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FA325-C864-E1D1-3462-43948FAD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6C6439-328D-FDD6-AF48-CCB5F4BB2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FA2607-D585-3343-7B9C-4E9B9D704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EEFD1F-8D7C-ABA3-723E-F94C59DCF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404003-1BB6-F264-4435-22274A5BD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DB47F8-7C33-A5E9-9E64-3D3B72B0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1BF274-8C90-6C25-3438-9354D6E27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9490F8-047D-2E99-F5E9-33F0AAA4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67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69441-E00B-163A-549F-55E37013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E0E721-B04D-502B-B503-0B668CCD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7FC765-F4E2-8357-3546-DB1B39AC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895F4A-7F40-AC95-A40C-5896B7E3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6D9CFF-40A0-951C-4757-7A0B622B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359C85-F0F0-B064-4F0F-658F1332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B0C92B-22C3-9BF9-34AD-122B26D1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31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82BEF-F1E0-8109-9313-C5CA3EDC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68E8C9-D2EC-4D29-3CAE-863B8AFC3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6DCC52-CF42-C878-2296-8AD85AFD7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4028C2-4463-4010-4E60-C5D1F16C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3E7BB4-D646-E72B-67E0-0561790C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E47B06-29DC-B040-DB6A-643AADA6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73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91CB2-5096-2940-9172-A4C51D3A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00AA6B-CDEB-42C1-28BC-1F807CD6D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C9F13D-2697-0F0E-BC43-5161B96FC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0E573D-CBE1-49C1-01ED-FC3B3959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2BBC24-CB8D-3F73-0C1B-A4968057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1BED77-AF70-34B4-91F0-C9F206C8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10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A74F2-B890-423E-F2EC-A31C06F4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2AAA8-39D2-60BD-C840-352C99F75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DC6FFC-9357-1648-9438-0E9FDC6B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F209D-9CFA-BF44-2743-6027E76B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AE76E9-9AE0-AA48-611B-B39A1F05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09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2F314E-1869-0E9E-5FFE-4CDAF49DE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1F9388-A1BA-4BF0-B947-FC5DE8BB7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B686C6-0EFF-6665-9F93-20E682B4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7FE10-9EBB-80DD-322B-ADE0485F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D63AD3-4837-816E-BD75-1F6231C7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66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1E1605-46F4-0796-05E4-7359979F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7B45C8-2FCE-FF23-9E39-A8061486F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4FE682-3EFA-7062-5904-5511AF614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CBD8B-3BFA-49E8-BFC5-32F80C4A328B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62A2F8-3CD3-0BA1-1510-0B8EFB33E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1ACF9C-2E16-7222-40A3-D3AA97FBD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40FDE-7A27-4975-81C6-46C393AE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06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9879EC9-5DB0-4A5E-15CC-46B21E6026D4}"/>
              </a:ext>
            </a:extLst>
          </p:cNvPr>
          <p:cNvSpPr/>
          <p:nvPr/>
        </p:nvSpPr>
        <p:spPr>
          <a:xfrm rot="5400000">
            <a:off x="3537357" y="-3537357"/>
            <a:ext cx="5117283" cy="12192001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9E56E-5127-AAC8-BD04-6B757D00745D}"/>
              </a:ext>
            </a:extLst>
          </p:cNvPr>
          <p:cNvSpPr txBox="1"/>
          <p:nvPr/>
        </p:nvSpPr>
        <p:spPr>
          <a:xfrm>
            <a:off x="612395" y="1270934"/>
            <a:ext cx="466618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Global Go</a:t>
            </a:r>
          </a:p>
          <a:p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소상공인 </a:t>
            </a:r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수출 </a:t>
            </a:r>
            <a:r>
              <a:rPr lang="ko-KR" altLang="en-US" sz="2000" b="1" dirty="0" err="1">
                <a:solidFill>
                  <a:schemeClr val="bg1"/>
                </a:solidFill>
                <a:latin typeface="+mj-ea"/>
                <a:ea typeface="+mj-ea"/>
              </a:rPr>
              <a:t>어드바이저</a:t>
            </a:r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 플랫폼</a:t>
            </a:r>
            <a:endParaRPr lang="en-US" altLang="ko-KR" sz="2000" b="1" dirty="0">
              <a:solidFill>
                <a:schemeClr val="bg1"/>
              </a:solidFill>
              <a:latin typeface="+mj-ea"/>
              <a:ea typeface="+mj-ea"/>
            </a:endParaRPr>
          </a:p>
          <a:p>
            <a:endParaRPr lang="en-US" altLang="ko-KR" sz="2000" b="1" dirty="0">
              <a:solidFill>
                <a:schemeClr val="bg1"/>
              </a:solidFill>
            </a:endParaRPr>
          </a:p>
          <a:p>
            <a:r>
              <a:rPr lang="ko-KR" altLang="en-US" sz="5400" b="1" dirty="0">
                <a:solidFill>
                  <a:schemeClr val="bg1"/>
                </a:solidFill>
              </a:rPr>
              <a:t>화면설계서</a:t>
            </a:r>
            <a:endParaRPr lang="en-US" altLang="ko-KR" sz="5400" b="1" dirty="0">
              <a:solidFill>
                <a:schemeClr val="bg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0229D0C-CC07-0840-AE12-FD44F5F0B8F3}"/>
              </a:ext>
            </a:extLst>
          </p:cNvPr>
          <p:cNvCxnSpPr/>
          <p:nvPr/>
        </p:nvCxnSpPr>
        <p:spPr>
          <a:xfrm>
            <a:off x="713064" y="939567"/>
            <a:ext cx="41106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21E0D6-0FBD-AA6B-B8B6-4969512F12FF}"/>
              </a:ext>
            </a:extLst>
          </p:cNvPr>
          <p:cNvSpPr txBox="1"/>
          <p:nvPr/>
        </p:nvSpPr>
        <p:spPr>
          <a:xfrm>
            <a:off x="6715773" y="5859736"/>
            <a:ext cx="4863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b="1" dirty="0" err="1"/>
              <a:t>팀명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AhaAha</a:t>
            </a:r>
            <a:endParaRPr lang="en-US" altLang="ko-KR" sz="2000" b="1" dirty="0">
              <a:latin typeface="+mn-ea"/>
            </a:endParaRPr>
          </a:p>
          <a:p>
            <a:pPr algn="r"/>
            <a:r>
              <a:rPr lang="ko-KR" altLang="en-US" sz="2000" b="1" dirty="0"/>
              <a:t>팀원 </a:t>
            </a:r>
            <a:r>
              <a:rPr lang="en-US" altLang="ko-KR" sz="2000" b="1" dirty="0"/>
              <a:t>: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유준선</a:t>
            </a:r>
            <a:r>
              <a:rPr lang="en-US" altLang="ko-KR" sz="2000" dirty="0"/>
              <a:t> / </a:t>
            </a:r>
            <a:r>
              <a:rPr lang="ko-KR" altLang="en-US" sz="2000" dirty="0"/>
              <a:t>유은지 </a:t>
            </a:r>
            <a:r>
              <a:rPr lang="en-US" altLang="ko-KR" sz="2000" dirty="0"/>
              <a:t>/ </a:t>
            </a:r>
            <a:r>
              <a:rPr lang="ko-KR" altLang="en-US" sz="2000" dirty="0" err="1"/>
              <a:t>최호철</a:t>
            </a:r>
            <a:r>
              <a:rPr lang="ko-KR" altLang="en-US" sz="2000" dirty="0"/>
              <a:t> </a:t>
            </a:r>
            <a:r>
              <a:rPr lang="en-US" altLang="ko-KR" sz="2000" dirty="0"/>
              <a:t>/ </a:t>
            </a:r>
            <a:r>
              <a:rPr lang="ko-KR" altLang="en-US" sz="2000" dirty="0"/>
              <a:t>최효정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4E976-3BC6-1D16-2EAC-A9AA1269A7B9}"/>
              </a:ext>
            </a:extLst>
          </p:cNvPr>
          <p:cNvSpPr txBox="1"/>
          <p:nvPr/>
        </p:nvSpPr>
        <p:spPr>
          <a:xfrm>
            <a:off x="612395" y="6167512"/>
            <a:ext cx="169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/>
              <a:t>2025. 07. 04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532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BA5C5723-E40C-786A-DF01-41FEEE44C3C7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587441-CEE1-7AF6-5FDF-B58E6B50DE64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66D0EF9-BADE-427D-91D6-1EF0D4516307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58E314-C773-4F36-8C88-B79D5D98B4F8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FC9F57-DA73-432C-ADB1-4C65C38E146D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56FCDD1-8102-469E-963F-8CF798D512DC}"/>
              </a:ext>
            </a:extLst>
          </p:cNvPr>
          <p:cNvGrpSpPr/>
          <p:nvPr/>
        </p:nvGrpSpPr>
        <p:grpSpPr>
          <a:xfrm>
            <a:off x="276836" y="1283534"/>
            <a:ext cx="2171089" cy="608077"/>
            <a:chOff x="276836" y="1474033"/>
            <a:chExt cx="2171089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1D4FEC-A08E-42DB-9970-9FD7B36730CB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279311-CDE0-44BF-8410-51979300FD53}"/>
                </a:ext>
              </a:extLst>
            </p:cNvPr>
            <p:cNvSpPr txBox="1"/>
            <p:nvPr/>
          </p:nvSpPr>
          <p:spPr>
            <a:xfrm>
              <a:off x="276836" y="1805111"/>
              <a:ext cx="2171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메인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 txBox="1"/>
          <p:nvPr/>
        </p:nvSpPr>
        <p:spPr>
          <a:xfrm>
            <a:off x="3020037" y="52238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4880A7-802F-D121-7707-9DC1D8BFEC38}"/>
              </a:ext>
            </a:extLst>
          </p:cNvPr>
          <p:cNvSpPr txBox="1"/>
          <p:nvPr/>
        </p:nvSpPr>
        <p:spPr>
          <a:xfrm>
            <a:off x="3020037" y="26236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메인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17CD5E-1436-6249-1099-34960C416BE1}"/>
              </a:ext>
            </a:extLst>
          </p:cNvPr>
          <p:cNvSpPr txBox="1"/>
          <p:nvPr/>
        </p:nvSpPr>
        <p:spPr>
          <a:xfrm>
            <a:off x="4238884" y="5237438"/>
            <a:ext cx="2544052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>
                <a:latin typeface="+mn-ea"/>
                <a:cs typeface="ADLaM Display" panose="020F0502020204030204" pitchFamily="2" charset="0"/>
              </a:rPr>
              <a:t>메인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7D5328-C368-4B06-E314-11C5D5EB57D3}"/>
              </a:ext>
            </a:extLst>
          </p:cNvPr>
          <p:cNvSpPr txBox="1"/>
          <p:nvPr/>
        </p:nvSpPr>
        <p:spPr>
          <a:xfrm>
            <a:off x="9171963" y="523743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>
                <a:latin typeface="+mn-ea"/>
                <a:cs typeface="ADLaM Display" panose="020F0502020204030204" pitchFamily="2" charset="0"/>
              </a:rPr>
              <a:t>화면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D0FD23-F6DB-45A2-65F3-9A621D437A23}"/>
              </a:ext>
            </a:extLst>
          </p:cNvPr>
          <p:cNvSpPr txBox="1"/>
          <p:nvPr/>
        </p:nvSpPr>
        <p:spPr>
          <a:xfrm>
            <a:off x="4260548" y="5546177"/>
            <a:ext cx="4546309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사용자가 처음 들어왔을 때 보여주는 화면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로그인 </a:t>
            </a:r>
            <a:r>
              <a:rPr lang="en-US" altLang="ko-KR" sz="1200" dirty="0"/>
              <a:t>X </a:t>
            </a:r>
            <a:r>
              <a:rPr lang="ko-KR" altLang="en-US" sz="1200" dirty="0"/>
              <a:t>→  </a:t>
            </a:r>
            <a:r>
              <a:rPr lang="ko-KR" altLang="en-US" sz="1200" dirty="0" err="1"/>
              <a:t>알림창</a:t>
            </a:r>
            <a:r>
              <a:rPr lang="ko-KR" altLang="en-US" sz="1200" dirty="0"/>
              <a:t> 띄움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 err="1"/>
              <a:t>네비</a:t>
            </a:r>
            <a:r>
              <a:rPr lang="ko-KR" altLang="en-US" sz="1200" dirty="0"/>
              <a:t> 바</a:t>
            </a:r>
            <a:r>
              <a:rPr lang="en-US" altLang="ko-KR" sz="1200" dirty="0"/>
              <a:t> : </a:t>
            </a:r>
            <a:r>
              <a:rPr lang="ko-KR" altLang="en-US" sz="1200" dirty="0"/>
              <a:t>품목 </a:t>
            </a:r>
            <a:r>
              <a:rPr lang="en-US" altLang="ko-KR" sz="1200" dirty="0"/>
              <a:t>/ </a:t>
            </a:r>
            <a:r>
              <a:rPr lang="ko-KR" altLang="en-US" sz="1200" dirty="0"/>
              <a:t>상품 </a:t>
            </a:r>
            <a:r>
              <a:rPr lang="en-US" altLang="ko-KR" sz="1200" dirty="0"/>
              <a:t>/ </a:t>
            </a:r>
            <a:r>
              <a:rPr lang="ko-KR" altLang="en-US" sz="1200" dirty="0"/>
              <a:t>중개 플랫폼 </a:t>
            </a:r>
            <a:r>
              <a:rPr lang="en-US" altLang="ko-KR" sz="1200" dirty="0"/>
              <a:t>/ </a:t>
            </a:r>
            <a:r>
              <a:rPr lang="ko-KR" altLang="en-US" sz="1200" dirty="0" err="1"/>
              <a:t>챗봇</a:t>
            </a:r>
            <a:r>
              <a:rPr lang="ko-KR" altLang="en-US" sz="1200" dirty="0"/>
              <a:t> 가이드</a:t>
            </a:r>
            <a:br>
              <a:rPr lang="en-US" altLang="ko-KR" sz="1200" dirty="0"/>
            </a:br>
            <a:r>
              <a:rPr lang="en-US" altLang="ko-KR" sz="1200" dirty="0"/>
              <a:t>            </a:t>
            </a:r>
            <a:r>
              <a:rPr lang="ko-KR" altLang="en-US" sz="1200" dirty="0">
                <a:effectLst/>
              </a:rPr>
              <a:t>메인 페이지에서는 숨김 처리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카테고리 클릭 시 → 해당 카테고리 페이지로 이동</a:t>
            </a:r>
            <a:endParaRPr lang="en-US" altLang="ko-KR" sz="1200" dirty="0"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966095-EBDC-05E9-91B2-D77230B30E8E}"/>
              </a:ext>
            </a:extLst>
          </p:cNvPr>
          <p:cNvSpPr txBox="1"/>
          <p:nvPr/>
        </p:nvSpPr>
        <p:spPr>
          <a:xfrm>
            <a:off x="9179778" y="5547172"/>
            <a:ext cx="2701757" cy="735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1) </a:t>
            </a:r>
            <a:r>
              <a:rPr lang="ko-KR" altLang="en-US" sz="1200" dirty="0" err="1"/>
              <a:t>네비</a:t>
            </a:r>
            <a:r>
              <a:rPr lang="ko-KR" altLang="en-US" sz="1200" dirty="0"/>
              <a:t> 바</a:t>
            </a:r>
            <a:br>
              <a:rPr lang="en-US" altLang="ko-KR" sz="1200" dirty="0">
                <a:effectLst/>
              </a:rPr>
            </a:br>
            <a:r>
              <a:rPr lang="en-US" altLang="ko-KR" sz="1200" dirty="0"/>
              <a:t>2) </a:t>
            </a:r>
            <a:r>
              <a:rPr lang="ko-KR" altLang="en-US" sz="1200" dirty="0"/>
              <a:t>화면 카테고리 영역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3) </a:t>
            </a:r>
            <a:r>
              <a:rPr lang="ko-KR" altLang="en-US" sz="1200" dirty="0"/>
              <a:t>로그인 </a:t>
            </a:r>
            <a:r>
              <a:rPr lang="en-US" altLang="ko-KR" sz="1200" dirty="0"/>
              <a:t>/</a:t>
            </a:r>
            <a:r>
              <a:rPr lang="ko-KR" altLang="en-US" sz="1200" dirty="0"/>
              <a:t>회원가입 버튼</a:t>
            </a:r>
            <a:endParaRPr lang="en-US" altLang="ko-KR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2D24B1-AD17-FB48-5720-301EC73426EE}"/>
              </a:ext>
            </a:extLst>
          </p:cNvPr>
          <p:cNvSpPr txBox="1"/>
          <p:nvPr/>
        </p:nvSpPr>
        <p:spPr>
          <a:xfrm>
            <a:off x="4025440" y="308372"/>
            <a:ext cx="3149943" cy="51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dirty="0"/>
              <a:t>로그인 시 → 마이페이지로 변경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b="1" dirty="0"/>
              <a:t>로그인</a:t>
            </a:r>
            <a:r>
              <a:rPr lang="ko-KR" altLang="en-US" sz="1200" dirty="0"/>
              <a:t> 클릭 시 → 로그인 페이지로 이동</a:t>
            </a:r>
            <a:endParaRPr lang="en-US" altLang="ko-KR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5C994F-2469-DDB8-1941-C2F7329BDC58}"/>
              </a:ext>
            </a:extLst>
          </p:cNvPr>
          <p:cNvSpPr txBox="1"/>
          <p:nvPr/>
        </p:nvSpPr>
        <p:spPr>
          <a:xfrm>
            <a:off x="7220926" y="309145"/>
            <a:ext cx="3416575" cy="51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dirty="0"/>
              <a:t>로그인 시 → 로그아웃으로 변경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b="1" dirty="0"/>
              <a:t>회원가입</a:t>
            </a:r>
            <a:r>
              <a:rPr lang="ko-KR" altLang="en-US" sz="1200" dirty="0"/>
              <a:t> 클릭 시 → 회원가입 페이지로 이동</a:t>
            </a:r>
            <a:endParaRPr lang="en-US" altLang="ko-KR" sz="1200" dirty="0"/>
          </a:p>
        </p:txBody>
      </p:sp>
      <p:pic>
        <p:nvPicPr>
          <p:cNvPr id="3" name="그림 2" descr="텍스트, 스크린샷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9EAF60-BEE8-794E-76AD-4886233E6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585" y="1491078"/>
            <a:ext cx="5925068" cy="34133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2D6E2C-EF93-D129-A1FF-BE87CE6F2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85" y="930559"/>
            <a:ext cx="5925068" cy="4750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5" name="타원 34">
            <a:extLst>
              <a:ext uri="{FF2B5EF4-FFF2-40B4-BE49-F238E27FC236}">
                <a16:creationId xmlns:a16="http://schemas.microsoft.com/office/drawing/2014/main" id="{6226DCAC-BABE-C424-6452-05B3CF8DCB07}"/>
              </a:ext>
            </a:extLst>
          </p:cNvPr>
          <p:cNvSpPr/>
          <p:nvPr/>
        </p:nvSpPr>
        <p:spPr>
          <a:xfrm>
            <a:off x="4862163" y="1112198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EF983B4-0A23-1032-3188-4082CDC49FDC}"/>
              </a:ext>
            </a:extLst>
          </p:cNvPr>
          <p:cNvSpPr/>
          <p:nvPr/>
        </p:nvSpPr>
        <p:spPr>
          <a:xfrm>
            <a:off x="5059680" y="1195207"/>
            <a:ext cx="1379220" cy="290054"/>
          </a:xfrm>
          <a:prstGeom prst="roundRect">
            <a:avLst>
              <a:gd name="adj" fmla="val 5556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0575CAA-0950-F0AA-5C2F-929E73D9A8BE}"/>
              </a:ext>
            </a:extLst>
          </p:cNvPr>
          <p:cNvSpPr/>
          <p:nvPr/>
        </p:nvSpPr>
        <p:spPr>
          <a:xfrm>
            <a:off x="4862163" y="1824171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907D98D-40E9-3219-466D-407327B30FCB}"/>
              </a:ext>
            </a:extLst>
          </p:cNvPr>
          <p:cNvSpPr/>
          <p:nvPr/>
        </p:nvSpPr>
        <p:spPr>
          <a:xfrm>
            <a:off x="8708098" y="848803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3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E27AEAE-4A18-E889-0F46-5003E249CF40}"/>
              </a:ext>
            </a:extLst>
          </p:cNvPr>
          <p:cNvSpPr/>
          <p:nvPr/>
        </p:nvSpPr>
        <p:spPr>
          <a:xfrm>
            <a:off x="8929689" y="955856"/>
            <a:ext cx="919163" cy="290054"/>
          </a:xfrm>
          <a:prstGeom prst="roundRect">
            <a:avLst>
              <a:gd name="adj" fmla="val 5556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E442A1-BE63-A07C-384A-9C07D972E4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18073"/>
          <a:stretch>
            <a:fillRect/>
          </a:stretch>
        </p:blipFill>
        <p:spPr>
          <a:xfrm>
            <a:off x="5147486" y="1228830"/>
            <a:ext cx="1248552" cy="1552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8F2279D-333A-E19A-FD34-0E68FF532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945" y="1833696"/>
            <a:ext cx="4726277" cy="2800757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689F7BC-9DA7-D975-03C2-FDFEE5D91186}"/>
              </a:ext>
            </a:extLst>
          </p:cNvPr>
          <p:cNvSpPr/>
          <p:nvPr/>
        </p:nvSpPr>
        <p:spPr>
          <a:xfrm>
            <a:off x="5116946" y="1813066"/>
            <a:ext cx="4747490" cy="2848811"/>
          </a:xfrm>
          <a:prstGeom prst="roundRect">
            <a:avLst>
              <a:gd name="adj" fmla="val 2079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37B1-4BDA-D9D8-E92B-EDAAD023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16C30A3-3A80-2F5D-3691-807F4B2691EC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5F02917-FC03-EA10-B0B4-8040FA093B47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34425C0-B908-EB19-2E1E-527A5966F301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18B6F7-76C8-F34A-110C-9FACD0903A7B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160931-21A5-7618-8430-8AB279CE5FF9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94B2FB1-9B7F-5B68-97E6-7E7F5F4A6298}"/>
              </a:ext>
            </a:extLst>
          </p:cNvPr>
          <p:cNvGrpSpPr/>
          <p:nvPr/>
        </p:nvGrpSpPr>
        <p:grpSpPr>
          <a:xfrm>
            <a:off x="276836" y="1283534"/>
            <a:ext cx="2171089" cy="608077"/>
            <a:chOff x="276836" y="1474033"/>
            <a:chExt cx="2171089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51544D-56F1-28AC-9835-D189EFB72E54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8F40B9-131C-4837-F782-EA055E3B0356}"/>
                </a:ext>
              </a:extLst>
            </p:cNvPr>
            <p:cNvSpPr txBox="1"/>
            <p:nvPr/>
          </p:nvSpPr>
          <p:spPr>
            <a:xfrm>
              <a:off x="276836" y="1805111"/>
              <a:ext cx="2171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로그인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7036157-D886-8B02-7937-EA5C2F26F1FF}"/>
              </a:ext>
            </a:extLst>
          </p:cNvPr>
          <p:cNvSpPr txBox="1"/>
          <p:nvPr/>
        </p:nvSpPr>
        <p:spPr>
          <a:xfrm>
            <a:off x="3020037" y="52238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5D049-0788-03A7-4167-C146BC8E1220}"/>
              </a:ext>
            </a:extLst>
          </p:cNvPr>
          <p:cNvSpPr txBox="1"/>
          <p:nvPr/>
        </p:nvSpPr>
        <p:spPr>
          <a:xfrm>
            <a:off x="3020037" y="2623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로그인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A144DC-B7F9-5414-6000-D2FAB9CD0564}"/>
              </a:ext>
            </a:extLst>
          </p:cNvPr>
          <p:cNvSpPr txBox="1"/>
          <p:nvPr/>
        </p:nvSpPr>
        <p:spPr>
          <a:xfrm>
            <a:off x="4238884" y="5237438"/>
            <a:ext cx="2544052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로그인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F358CE-D61E-62E8-B6E4-17D34981980D}"/>
              </a:ext>
            </a:extLst>
          </p:cNvPr>
          <p:cNvSpPr txBox="1"/>
          <p:nvPr/>
        </p:nvSpPr>
        <p:spPr>
          <a:xfrm>
            <a:off x="8608269" y="523743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522099-2947-1E40-9522-9C641CB500B7}"/>
              </a:ext>
            </a:extLst>
          </p:cNvPr>
          <p:cNvSpPr txBox="1"/>
          <p:nvPr/>
        </p:nvSpPr>
        <p:spPr>
          <a:xfrm>
            <a:off x="4260548" y="5546177"/>
            <a:ext cx="4546309" cy="9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사용자가 로그인 버튼 클릭 시 나오는 화면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en-US" altLang="ko-KR" sz="1200" dirty="0"/>
              <a:t>DB</a:t>
            </a:r>
            <a:r>
              <a:rPr lang="ko-KR" altLang="en-US" sz="1200" dirty="0"/>
              <a:t>에 </a:t>
            </a:r>
            <a:r>
              <a:rPr lang="ko-KR" altLang="en-US" sz="1200" dirty="0">
                <a:effectLst/>
              </a:rPr>
              <a:t>해당 유저 정보 </a:t>
            </a:r>
            <a:r>
              <a:rPr lang="en-US" altLang="ko-KR" sz="1200" dirty="0">
                <a:effectLst/>
              </a:rPr>
              <a:t>O </a:t>
            </a:r>
            <a:r>
              <a:rPr lang="ko-KR" altLang="en-US" sz="1200" dirty="0">
                <a:effectLst/>
              </a:rPr>
              <a:t>→ </a:t>
            </a:r>
            <a:r>
              <a:rPr lang="ko-KR" altLang="en-US" sz="1200" dirty="0"/>
              <a:t>메인 페이지로 이동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en-US" altLang="ko-KR" sz="1200" dirty="0">
                <a:effectLst/>
              </a:rPr>
              <a:t>DB</a:t>
            </a:r>
            <a:r>
              <a:rPr lang="ko-KR" altLang="en-US" sz="1200" dirty="0">
                <a:effectLst/>
              </a:rPr>
              <a:t>에 해당 유저 정보 </a:t>
            </a:r>
            <a:r>
              <a:rPr lang="en-US" altLang="ko-KR" sz="1200" dirty="0">
                <a:effectLst/>
              </a:rPr>
              <a:t>X </a:t>
            </a:r>
            <a:r>
              <a:rPr lang="ko-KR" altLang="en-US" sz="1200" dirty="0">
                <a:effectLst/>
              </a:rPr>
              <a:t>→ 에러 문구 표시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이메일</a:t>
            </a:r>
            <a:r>
              <a:rPr lang="en-US" altLang="ko-KR" sz="1200" dirty="0"/>
              <a:t>, </a:t>
            </a:r>
            <a:r>
              <a:rPr lang="ko-KR" altLang="en-US" sz="1200" dirty="0"/>
              <a:t>비밀번호 다 입력되어 있어야만 버튼 활성화</a:t>
            </a:r>
            <a:endParaRPr lang="en-US" altLang="ko-KR" sz="1200" dirty="0"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42156E-0BFB-879C-E4D3-ED7D521426F8}"/>
              </a:ext>
            </a:extLst>
          </p:cNvPr>
          <p:cNvSpPr txBox="1"/>
          <p:nvPr/>
        </p:nvSpPr>
        <p:spPr>
          <a:xfrm>
            <a:off x="8616084" y="5547172"/>
            <a:ext cx="1428955" cy="735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이메일 입력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비밀번호 입력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로그인 버튼</a:t>
            </a:r>
            <a:endParaRPr lang="en-US" altLang="ko-KR" sz="1200" dirty="0"/>
          </a:p>
        </p:txBody>
      </p:sp>
      <p:pic>
        <p:nvPicPr>
          <p:cNvPr id="14" name="그림 1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45E401-3C9C-245B-E16A-47E38A68C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884" y="831756"/>
            <a:ext cx="6845760" cy="38507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4AA16B-5DBE-B59B-3A4C-F567E33EF540}"/>
              </a:ext>
            </a:extLst>
          </p:cNvPr>
          <p:cNvSpPr txBox="1"/>
          <p:nvPr/>
        </p:nvSpPr>
        <p:spPr>
          <a:xfrm>
            <a:off x="10187847" y="5547172"/>
            <a:ext cx="1645702" cy="51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4) </a:t>
            </a:r>
            <a:r>
              <a:rPr lang="ko-KR" altLang="en-US" sz="1200" dirty="0"/>
              <a:t>이메일로 회원가입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5) </a:t>
            </a:r>
            <a:r>
              <a:rPr lang="ko-KR" altLang="en-US" sz="1200" dirty="0"/>
              <a:t>간편 로그인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64873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8330-AF9C-E8F1-93BD-39820340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98596C-C727-F782-1C5F-2F75C2276922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BF72B8-EB6F-9097-95CE-41BB4EA8F447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E3EF9E1-905F-DE37-838C-C3BBE4226089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0A5C29-88D1-7D59-F0B1-5E868032139D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18E50E-88E2-EF35-C7C5-A303B49650D0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E393C5E-3558-ADA1-B27F-D1AB477AF2D0}"/>
              </a:ext>
            </a:extLst>
          </p:cNvPr>
          <p:cNvGrpSpPr/>
          <p:nvPr/>
        </p:nvGrpSpPr>
        <p:grpSpPr>
          <a:xfrm>
            <a:off x="276836" y="1283534"/>
            <a:ext cx="2171089" cy="608077"/>
            <a:chOff x="276836" y="1474033"/>
            <a:chExt cx="2171089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D1BB43-1390-3A02-BB16-6BB6C0778B29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CBD05B-E23E-59B1-BB28-4F5CB34A15E6}"/>
                </a:ext>
              </a:extLst>
            </p:cNvPr>
            <p:cNvSpPr txBox="1"/>
            <p:nvPr/>
          </p:nvSpPr>
          <p:spPr>
            <a:xfrm>
              <a:off x="276836" y="1805111"/>
              <a:ext cx="2171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SNS </a:t>
              </a:r>
              <a:r>
                <a:rPr lang="ko-KR" altLang="en-US" sz="1200" dirty="0">
                  <a:solidFill>
                    <a:schemeClr val="bg1"/>
                  </a:solidFill>
                </a:rPr>
                <a:t>회원가입 예시 </a:t>
              </a:r>
              <a:r>
                <a:rPr lang="en-US" altLang="ko-KR" sz="1200" dirty="0">
                  <a:solidFill>
                    <a:schemeClr val="bg1"/>
                  </a:solidFill>
                </a:rPr>
                <a:t>(Naver)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281179-3BA9-488D-C556-644CFCCBC04D}"/>
              </a:ext>
            </a:extLst>
          </p:cNvPr>
          <p:cNvSpPr txBox="1"/>
          <p:nvPr/>
        </p:nvSpPr>
        <p:spPr>
          <a:xfrm>
            <a:off x="3020037" y="52238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9BA8D4-74B4-D29F-7243-202E596D2727}"/>
              </a:ext>
            </a:extLst>
          </p:cNvPr>
          <p:cNvSpPr txBox="1"/>
          <p:nvPr/>
        </p:nvSpPr>
        <p:spPr>
          <a:xfrm>
            <a:off x="3020037" y="262369"/>
            <a:ext cx="28226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 </a:t>
            </a:r>
            <a:r>
              <a:rPr lang="en-US" altLang="ko-KR" sz="1600" b="1" dirty="0">
                <a:solidFill>
                  <a:srgbClr val="6759B6"/>
                </a:solidFill>
              </a:rPr>
              <a:t>SNS </a:t>
            </a:r>
            <a:r>
              <a:rPr lang="ko-KR" altLang="en-US" sz="1600" b="1" dirty="0">
                <a:solidFill>
                  <a:srgbClr val="6759B6"/>
                </a:solidFill>
              </a:rPr>
              <a:t>회원가입 예시 </a:t>
            </a:r>
            <a:r>
              <a:rPr lang="en-US" altLang="ko-KR" sz="1600" b="1" dirty="0">
                <a:solidFill>
                  <a:srgbClr val="6759B6"/>
                </a:solidFill>
              </a:rPr>
              <a:t>(Naver)</a:t>
            </a:r>
            <a:endParaRPr lang="ko-KR" altLang="en-US" sz="1600" b="1" dirty="0">
              <a:solidFill>
                <a:srgbClr val="6759B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9795C4-2124-533F-7107-795F4A4EC66D}"/>
              </a:ext>
            </a:extLst>
          </p:cNvPr>
          <p:cNvSpPr txBox="1"/>
          <p:nvPr/>
        </p:nvSpPr>
        <p:spPr>
          <a:xfrm>
            <a:off x="4238884" y="5237438"/>
            <a:ext cx="2544052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SNS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회원가입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115D79-AB76-6E82-C3F2-0047A0CEC289}"/>
              </a:ext>
            </a:extLst>
          </p:cNvPr>
          <p:cNvSpPr txBox="1"/>
          <p:nvPr/>
        </p:nvSpPr>
        <p:spPr>
          <a:xfrm>
            <a:off x="8994163" y="523743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9C18F2-A754-FADC-7585-738543C7ED4A}"/>
              </a:ext>
            </a:extLst>
          </p:cNvPr>
          <p:cNvSpPr txBox="1"/>
          <p:nvPr/>
        </p:nvSpPr>
        <p:spPr>
          <a:xfrm>
            <a:off x="4260548" y="5546177"/>
            <a:ext cx="4546309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en-US" altLang="ko-KR" sz="1200" dirty="0">
                <a:effectLst/>
              </a:rPr>
              <a:t>SNS </a:t>
            </a:r>
            <a:r>
              <a:rPr lang="ko-KR" altLang="en-US" sz="1200" dirty="0">
                <a:effectLst/>
              </a:rPr>
              <a:t>회원가입 시 해당 </a:t>
            </a:r>
            <a:r>
              <a:rPr lang="en-US" altLang="ko-KR" sz="1200" dirty="0">
                <a:effectLst/>
              </a:rPr>
              <a:t>SNS </a:t>
            </a:r>
            <a:r>
              <a:rPr lang="ko-KR" altLang="en-US" sz="1200" dirty="0">
                <a:effectLst/>
              </a:rPr>
              <a:t>자동로그인 유무에 따라</a:t>
            </a:r>
            <a:br>
              <a:rPr lang="en-US" altLang="ko-KR" sz="1200" dirty="0"/>
            </a:br>
            <a:r>
              <a:rPr lang="ko-KR" altLang="en-US" sz="1200" dirty="0"/>
              <a:t>나타나는 화면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로그인 후 개인정보 접근 동의 화면으로 이동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필수</a:t>
            </a:r>
            <a:r>
              <a:rPr lang="en-US" altLang="ko-KR" sz="1200" dirty="0"/>
              <a:t>/</a:t>
            </a:r>
            <a:r>
              <a:rPr lang="ko-KR" altLang="en-US" sz="1200" dirty="0"/>
              <a:t>추가 선택할 수 있게 체크 형태로 선택 하게 함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동의 시 회원가입 완료 </a:t>
            </a:r>
            <a:r>
              <a:rPr lang="ko-KR" altLang="en-US" sz="1200" dirty="0"/>
              <a:t>→ 해당 정보 유저 정보 </a:t>
            </a:r>
            <a:r>
              <a:rPr lang="en-US" altLang="ko-KR" sz="1200" dirty="0"/>
              <a:t>DB</a:t>
            </a:r>
            <a:r>
              <a:rPr lang="ko-KR" altLang="en-US" sz="1200" dirty="0"/>
              <a:t>에 반영됨</a:t>
            </a:r>
            <a:endParaRPr lang="en-US" altLang="ko-KR" sz="1200" dirty="0"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7BFF5D-1EAA-7789-F545-D13F2E643A07}"/>
              </a:ext>
            </a:extLst>
          </p:cNvPr>
          <p:cNvSpPr txBox="1"/>
          <p:nvPr/>
        </p:nvSpPr>
        <p:spPr>
          <a:xfrm>
            <a:off x="9001978" y="5547172"/>
            <a:ext cx="2351822" cy="51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A) SNS </a:t>
            </a:r>
            <a:r>
              <a:rPr lang="ko-KR" altLang="en-US" sz="1200" dirty="0"/>
              <a:t>로그인 화면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B) </a:t>
            </a:r>
            <a:r>
              <a:rPr lang="ko-KR" altLang="en-US" sz="1200" dirty="0"/>
              <a:t>개인정보 접근 동의 화면</a:t>
            </a:r>
            <a:endParaRPr lang="en-US" altLang="ko-KR" sz="1200" dirty="0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CF8192-1356-C589-68A8-1A1B70834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684" y="905967"/>
            <a:ext cx="3167668" cy="3850740"/>
          </a:xfrm>
          <a:prstGeom prst="rect">
            <a:avLst/>
          </a:prstGeom>
        </p:spPr>
      </p:pic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48E61E-659C-5313-FD66-300FE1889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473" y="905967"/>
            <a:ext cx="2546955" cy="3850740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DD091708-0F53-F2A5-A7A0-FD549116BBCA}"/>
              </a:ext>
            </a:extLst>
          </p:cNvPr>
          <p:cNvGrpSpPr/>
          <p:nvPr/>
        </p:nvGrpSpPr>
        <p:grpSpPr>
          <a:xfrm>
            <a:off x="4276261" y="759773"/>
            <a:ext cx="301686" cy="292388"/>
            <a:chOff x="3581778" y="895616"/>
            <a:chExt cx="301686" cy="292388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82C8450-A859-FDF4-62B3-FAF13509A3E4}"/>
                </a:ext>
              </a:extLst>
            </p:cNvPr>
            <p:cNvSpPr/>
            <p:nvPr/>
          </p:nvSpPr>
          <p:spPr>
            <a:xfrm>
              <a:off x="3588670" y="913020"/>
              <a:ext cx="264322" cy="264322"/>
            </a:xfrm>
            <a:prstGeom prst="ellipse">
              <a:avLst/>
            </a:prstGeom>
            <a:solidFill>
              <a:srgbClr val="FFE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B26F4FB-BDDE-E4BB-6111-6F27AD368C78}"/>
                </a:ext>
              </a:extLst>
            </p:cNvPr>
            <p:cNvSpPr txBox="1"/>
            <p:nvPr/>
          </p:nvSpPr>
          <p:spPr>
            <a:xfrm>
              <a:off x="3581778" y="895616"/>
              <a:ext cx="30168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ysClr val="windowText" lastClr="000000"/>
                  </a:solidFill>
                </a:rPr>
                <a:t>A</a:t>
              </a:r>
              <a:endParaRPr lang="ko-KR" altLang="en-US" sz="13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83E9ADA-94BA-C48D-5C47-8B9C88B50EB8}"/>
              </a:ext>
            </a:extLst>
          </p:cNvPr>
          <p:cNvGrpSpPr/>
          <p:nvPr/>
        </p:nvGrpSpPr>
        <p:grpSpPr>
          <a:xfrm>
            <a:off x="7812050" y="759773"/>
            <a:ext cx="290464" cy="292388"/>
            <a:chOff x="3581778" y="895616"/>
            <a:chExt cx="290464" cy="292388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BB9C869-60EB-1468-2322-009D8BE14231}"/>
                </a:ext>
              </a:extLst>
            </p:cNvPr>
            <p:cNvSpPr/>
            <p:nvPr/>
          </p:nvSpPr>
          <p:spPr>
            <a:xfrm>
              <a:off x="3588670" y="913020"/>
              <a:ext cx="264322" cy="264322"/>
            </a:xfrm>
            <a:prstGeom prst="ellipse">
              <a:avLst/>
            </a:prstGeom>
            <a:solidFill>
              <a:srgbClr val="FFE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DBCAFD-A604-0257-AE1D-7D481ED4581F}"/>
                </a:ext>
              </a:extLst>
            </p:cNvPr>
            <p:cNvSpPr txBox="1"/>
            <p:nvPr/>
          </p:nvSpPr>
          <p:spPr>
            <a:xfrm>
              <a:off x="3581778" y="895616"/>
              <a:ext cx="29046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ysClr val="windowText" lastClr="000000"/>
                  </a:solidFill>
                </a:rPr>
                <a:t>B</a:t>
              </a:r>
              <a:endParaRPr lang="ko-KR" altLang="en-US" sz="13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411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228E-22BC-C060-7F4E-6093A99A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804221-9A10-3569-09CF-DC01C11C6492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27EE7E-1F42-0E63-912B-DDBE24B67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502" y="492402"/>
            <a:ext cx="7990191" cy="447821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F9F337D-179B-CB1B-E884-48B017CCE866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6E86C77-6CC3-DA45-1859-7B7F79D5ABB5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B1CFB1-12CB-A2E7-B8F0-979596BFED9A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9D7CD3-DE31-C4F5-6821-A02692C3DBA9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CC6D363-2985-014E-F95F-0F3D6A3FB745}"/>
              </a:ext>
            </a:extLst>
          </p:cNvPr>
          <p:cNvGrpSpPr/>
          <p:nvPr/>
        </p:nvGrpSpPr>
        <p:grpSpPr>
          <a:xfrm>
            <a:off x="276836" y="1283534"/>
            <a:ext cx="2171089" cy="608077"/>
            <a:chOff x="276836" y="1474033"/>
            <a:chExt cx="2171089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F0F159-80B7-9A06-9ADA-746EF8221768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127384-E0D0-8183-D698-A956664CBFB0}"/>
                </a:ext>
              </a:extLst>
            </p:cNvPr>
            <p:cNvSpPr txBox="1"/>
            <p:nvPr/>
          </p:nvSpPr>
          <p:spPr>
            <a:xfrm>
              <a:off x="276836" y="1805111"/>
              <a:ext cx="2171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회원가입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3B1CAD0-2807-CF72-B36B-B16016E4A300}"/>
              </a:ext>
            </a:extLst>
          </p:cNvPr>
          <p:cNvSpPr txBox="1"/>
          <p:nvPr/>
        </p:nvSpPr>
        <p:spPr>
          <a:xfrm>
            <a:off x="3020037" y="52238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04B443-1F0A-6678-49EC-89EE25AAEF67}"/>
              </a:ext>
            </a:extLst>
          </p:cNvPr>
          <p:cNvSpPr txBox="1"/>
          <p:nvPr/>
        </p:nvSpPr>
        <p:spPr>
          <a:xfrm>
            <a:off x="3020037" y="2623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회원가입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90E39A-AB50-D9DF-FDC1-4F726B51F0DA}"/>
              </a:ext>
            </a:extLst>
          </p:cNvPr>
          <p:cNvSpPr txBox="1"/>
          <p:nvPr/>
        </p:nvSpPr>
        <p:spPr>
          <a:xfrm>
            <a:off x="4238884" y="5237438"/>
            <a:ext cx="2544052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회원가입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91FA31-9727-844E-B0FB-F822105984DE}"/>
              </a:ext>
            </a:extLst>
          </p:cNvPr>
          <p:cNvSpPr txBox="1"/>
          <p:nvPr/>
        </p:nvSpPr>
        <p:spPr>
          <a:xfrm>
            <a:off x="8994163" y="523743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B88A5D-E9A5-25CE-2839-FBEC618E218A}"/>
              </a:ext>
            </a:extLst>
          </p:cNvPr>
          <p:cNvSpPr txBox="1"/>
          <p:nvPr/>
        </p:nvSpPr>
        <p:spPr>
          <a:xfrm>
            <a:off x="4260548" y="5546177"/>
            <a:ext cx="4546309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메인 화면에서 회원가입 버튼 클릭 시 나오는 화면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이메일로 회원가입 클릭 → 회원가입 페이지로 이동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계정 있을 시 버튼 클릭 → 로그인 페이지로 이동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해당 </a:t>
            </a:r>
            <a:r>
              <a:rPr lang="en-US" altLang="ko-KR" sz="1200" dirty="0">
                <a:effectLst/>
              </a:rPr>
              <a:t>SNS </a:t>
            </a:r>
            <a:r>
              <a:rPr lang="ko-KR" altLang="en-US" sz="1200" dirty="0">
                <a:effectLst/>
              </a:rPr>
              <a:t>버튼 클릭 → 간편 회원가입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endParaRPr lang="en-US" altLang="ko-KR" sz="1200" dirty="0"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96B2FC-3BAF-FA5F-B332-216553EDAE37}"/>
              </a:ext>
            </a:extLst>
          </p:cNvPr>
          <p:cNvSpPr txBox="1"/>
          <p:nvPr/>
        </p:nvSpPr>
        <p:spPr>
          <a:xfrm>
            <a:off x="9001978" y="5547172"/>
            <a:ext cx="2016106" cy="735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1) </a:t>
            </a:r>
            <a:r>
              <a:rPr lang="ko-KR" altLang="en-US" sz="1200" dirty="0"/>
              <a:t>이메일로 회원가입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2) </a:t>
            </a:r>
            <a:r>
              <a:rPr lang="ko-KR" altLang="en-US" sz="1200" dirty="0"/>
              <a:t>로그인하기 버튼</a:t>
            </a:r>
            <a:br>
              <a:rPr lang="en-US" altLang="ko-KR" sz="1200" dirty="0">
                <a:effectLst/>
              </a:rPr>
            </a:br>
            <a:r>
              <a:rPr lang="en-US" altLang="ko-KR" sz="1200" dirty="0"/>
              <a:t>3) </a:t>
            </a:r>
            <a:r>
              <a:rPr lang="ko-KR" altLang="en-US" sz="1200" dirty="0"/>
              <a:t>간편 회원가입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78490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92E62-7045-452C-9857-9D511824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D227AE-A42C-697A-18CD-ED01EF5D43A1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515750-C0F9-0193-80CC-6C62A859E002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26BAB1-ADBF-4F82-8D25-FBFC28D3D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" r="3517" b="61947"/>
          <a:stretch>
            <a:fillRect/>
          </a:stretch>
        </p:blipFill>
        <p:spPr>
          <a:xfrm>
            <a:off x="2876666" y="2193811"/>
            <a:ext cx="4569604" cy="2609633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071D2A6D-988A-777E-49CA-96B5015A3FF3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F72A96-1423-9C7E-F93B-50158D45196C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93D4E1F-4595-C5EC-89A2-77EAC15AF5F7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24F391B-754B-A772-DC9C-5DF5ABDEF904}"/>
              </a:ext>
            </a:extLst>
          </p:cNvPr>
          <p:cNvGrpSpPr/>
          <p:nvPr/>
        </p:nvGrpSpPr>
        <p:grpSpPr>
          <a:xfrm>
            <a:off x="276836" y="1283534"/>
            <a:ext cx="2171089" cy="608077"/>
            <a:chOff x="276836" y="1474033"/>
            <a:chExt cx="2171089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A9F436-D990-C509-EF5C-4833B8C11B33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E3FF1F-C9DA-8EF4-D08C-8C5C1F849D9D}"/>
                </a:ext>
              </a:extLst>
            </p:cNvPr>
            <p:cNvSpPr txBox="1"/>
            <p:nvPr/>
          </p:nvSpPr>
          <p:spPr>
            <a:xfrm>
              <a:off x="276836" y="1805111"/>
              <a:ext cx="2171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이메일로 회원가입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05B7F16-346F-3F8D-48A1-BC9D9AD55035}"/>
              </a:ext>
            </a:extLst>
          </p:cNvPr>
          <p:cNvSpPr txBox="1"/>
          <p:nvPr/>
        </p:nvSpPr>
        <p:spPr>
          <a:xfrm>
            <a:off x="3020037" y="52238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03DBD9-6592-11EF-71A4-2256F6ED4C22}"/>
              </a:ext>
            </a:extLst>
          </p:cNvPr>
          <p:cNvSpPr txBox="1"/>
          <p:nvPr/>
        </p:nvSpPr>
        <p:spPr>
          <a:xfrm>
            <a:off x="3020037" y="262369"/>
            <a:ext cx="1898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이메일로 회원가입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F34F71-CBDD-AED8-785D-B64656EC9558}"/>
              </a:ext>
            </a:extLst>
          </p:cNvPr>
          <p:cNvSpPr txBox="1"/>
          <p:nvPr/>
        </p:nvSpPr>
        <p:spPr>
          <a:xfrm>
            <a:off x="4238884" y="5237438"/>
            <a:ext cx="2544052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이메일로 회원가입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4594C4-53AE-B923-C4BC-DBADFD47613A}"/>
              </a:ext>
            </a:extLst>
          </p:cNvPr>
          <p:cNvSpPr txBox="1"/>
          <p:nvPr/>
        </p:nvSpPr>
        <p:spPr>
          <a:xfrm>
            <a:off x="8994163" y="523743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353FE3-D635-A80E-CD01-EB83C588474B}"/>
              </a:ext>
            </a:extLst>
          </p:cNvPr>
          <p:cNvSpPr txBox="1"/>
          <p:nvPr/>
        </p:nvSpPr>
        <p:spPr>
          <a:xfrm>
            <a:off x="4260548" y="5546177"/>
            <a:ext cx="4546309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로그인 페이지에서 이메일로 회원가입 클릭 시 나오는 화면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필수 입력 사항만 입력하면 회원가입 가능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버튼 클릭 시 → </a:t>
            </a:r>
            <a:r>
              <a:rPr lang="en-US" altLang="ko-KR" sz="1200" dirty="0"/>
              <a:t>DB</a:t>
            </a:r>
            <a:r>
              <a:rPr lang="ko-KR" altLang="en-US" sz="1200" dirty="0"/>
              <a:t>에 회원 정보 저장</a:t>
            </a:r>
            <a:r>
              <a:rPr lang="en-US" altLang="ko-KR" sz="1200" dirty="0"/>
              <a:t>, </a:t>
            </a:r>
            <a:r>
              <a:rPr lang="ko-KR" altLang="en-US" sz="1200" dirty="0"/>
              <a:t>메인 페이지로 이동</a:t>
            </a:r>
            <a:r>
              <a:rPr lang="en-US" altLang="ko-KR" sz="1200" dirty="0"/>
              <a:t> (</a:t>
            </a:r>
            <a:r>
              <a:rPr lang="ko-KR" altLang="en-US" sz="1200" dirty="0"/>
              <a:t>자동 로그인</a:t>
            </a:r>
            <a:r>
              <a:rPr lang="en-US" altLang="ko-KR" sz="1200" dirty="0"/>
              <a:t>)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해당 정보들 다 입력되어 있어야만 버튼 활성화</a:t>
            </a:r>
            <a:endParaRPr lang="en-US" altLang="ko-KR" sz="1200" dirty="0"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5CD5E0-294D-7956-728C-557B248BF21A}"/>
              </a:ext>
            </a:extLst>
          </p:cNvPr>
          <p:cNvSpPr txBox="1"/>
          <p:nvPr/>
        </p:nvSpPr>
        <p:spPr>
          <a:xfrm>
            <a:off x="9001978" y="5547172"/>
            <a:ext cx="2654930" cy="9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0) </a:t>
            </a:r>
            <a:r>
              <a:rPr lang="ko-KR" altLang="en-US" sz="1200" dirty="0"/>
              <a:t>필수 입력 사항 </a:t>
            </a:r>
            <a:r>
              <a:rPr lang="en-US" altLang="ko-KR" sz="1200" dirty="0"/>
              <a:t>/ </a:t>
            </a:r>
            <a:r>
              <a:rPr lang="ko-KR" altLang="en-US" sz="1200" dirty="0"/>
              <a:t>선택 입력 사항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1) </a:t>
            </a:r>
            <a:r>
              <a:rPr lang="ko-KR" altLang="en-US" sz="1200" dirty="0"/>
              <a:t>닉네임</a:t>
            </a:r>
            <a:r>
              <a:rPr lang="en-US" altLang="ko-KR" sz="1200" dirty="0"/>
              <a:t>, </a:t>
            </a:r>
            <a:r>
              <a:rPr lang="ko-KR" altLang="en-US" sz="1200" dirty="0"/>
              <a:t>이메일</a:t>
            </a:r>
            <a:r>
              <a:rPr lang="en-US" altLang="ko-KR" sz="1200" dirty="0"/>
              <a:t>, </a:t>
            </a:r>
            <a:r>
              <a:rPr lang="ko-KR" altLang="en-US" sz="1200" dirty="0"/>
              <a:t>비밀번호 입력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2) </a:t>
            </a:r>
            <a:r>
              <a:rPr lang="ko-KR" altLang="en-US" sz="1200" dirty="0"/>
              <a:t>그 외 정보 입력</a:t>
            </a:r>
            <a:br>
              <a:rPr lang="en-US" altLang="ko-KR" sz="1200" dirty="0">
                <a:effectLst/>
              </a:rPr>
            </a:br>
            <a:r>
              <a:rPr lang="en-US" altLang="ko-KR" sz="1200" dirty="0"/>
              <a:t>3) </a:t>
            </a:r>
            <a:r>
              <a:rPr lang="ko-KR" altLang="en-US" sz="1200" dirty="0"/>
              <a:t>회원가입 버튼</a:t>
            </a:r>
            <a:endParaRPr lang="en-US" altLang="ko-KR" sz="1200" dirty="0"/>
          </a:p>
        </p:txBody>
      </p:sp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8F22D9-F19F-7CCF-1830-4FB4E0DEC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1" t="39710" r="2556"/>
          <a:stretch>
            <a:fillRect/>
          </a:stretch>
        </p:blipFill>
        <p:spPr>
          <a:xfrm>
            <a:off x="7531198" y="856606"/>
            <a:ext cx="4569604" cy="413462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6CD50AF-78B9-ACD1-66B7-42E45FBDB18D}"/>
              </a:ext>
            </a:extLst>
          </p:cNvPr>
          <p:cNvGrpSpPr/>
          <p:nvPr/>
        </p:nvGrpSpPr>
        <p:grpSpPr>
          <a:xfrm>
            <a:off x="276836" y="3749017"/>
            <a:ext cx="2171089" cy="2839137"/>
            <a:chOff x="276836" y="269845"/>
            <a:chExt cx="2171089" cy="2839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4BB0DD-4359-B503-D791-5A5D3870E628}"/>
                </a:ext>
              </a:extLst>
            </p:cNvPr>
            <p:cNvSpPr txBox="1"/>
            <p:nvPr/>
          </p:nvSpPr>
          <p:spPr>
            <a:xfrm>
              <a:off x="276836" y="2698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유의사항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12ED25-BD1D-C4A0-D9CB-E14CC958287B}"/>
                </a:ext>
              </a:extLst>
            </p:cNvPr>
            <p:cNvSpPr txBox="1"/>
            <p:nvPr/>
          </p:nvSpPr>
          <p:spPr>
            <a:xfrm>
              <a:off x="276836" y="600923"/>
              <a:ext cx="2171089" cy="2508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20000"/>
                </a:lnSpc>
                <a:buFontTx/>
                <a:buChar char="-"/>
              </a:pPr>
              <a:r>
                <a:rPr lang="ko-KR" altLang="en-US" sz="1200" spc="-70" dirty="0">
                  <a:solidFill>
                    <a:schemeClr val="bg1"/>
                  </a:solidFill>
                </a:rPr>
                <a:t>닉네임 중복</a:t>
              </a:r>
              <a:r>
                <a:rPr lang="en-US" altLang="ko-KR" sz="1200" spc="-70" dirty="0">
                  <a:solidFill>
                    <a:schemeClr val="bg1"/>
                  </a:solidFill>
                </a:rPr>
                <a:t>, </a:t>
              </a:r>
              <a:r>
                <a:rPr lang="ko-KR" altLang="en-US" sz="1200" spc="-70" dirty="0">
                  <a:solidFill>
                    <a:schemeClr val="bg1"/>
                  </a:solidFill>
                </a:rPr>
                <a:t>이메일 형식 </a:t>
              </a:r>
              <a:r>
                <a:rPr lang="en-US" altLang="ko-KR" sz="1200" spc="-70" dirty="0">
                  <a:solidFill>
                    <a:schemeClr val="bg1"/>
                  </a:solidFill>
                </a:rPr>
                <a:t>X, </a:t>
              </a:r>
              <a:br>
                <a:rPr lang="en-US" altLang="ko-KR" sz="1200" spc="-70" dirty="0">
                  <a:solidFill>
                    <a:schemeClr val="bg1"/>
                  </a:solidFill>
                </a:rPr>
              </a:br>
              <a:r>
                <a:rPr lang="ko-KR" altLang="en-US" sz="1200" spc="-70" dirty="0">
                  <a:solidFill>
                    <a:schemeClr val="bg1"/>
                  </a:solidFill>
                </a:rPr>
                <a:t>이메일 중복 </a:t>
              </a:r>
              <a:br>
                <a:rPr lang="en-US" altLang="ko-KR" sz="1200" spc="-70" dirty="0">
                  <a:solidFill>
                    <a:schemeClr val="bg1"/>
                  </a:solidFill>
                </a:rPr>
              </a:br>
              <a:r>
                <a:rPr lang="ko-KR" altLang="en-US" sz="1200" spc="-70" dirty="0">
                  <a:solidFill>
                    <a:schemeClr val="bg1"/>
                  </a:solidFill>
                </a:rPr>
                <a:t>→ 에러 문구 표시</a:t>
              </a:r>
              <a:br>
                <a:rPr lang="en-US" altLang="ko-KR" sz="1200" spc="-70" dirty="0">
                  <a:solidFill>
                    <a:schemeClr val="bg1"/>
                  </a:solidFill>
                </a:rPr>
              </a:br>
              <a:endParaRPr lang="en-US" altLang="ko-KR" sz="1200" spc="-70" dirty="0">
                <a:solidFill>
                  <a:schemeClr val="bg1"/>
                </a:solidFill>
              </a:endParaRPr>
            </a:p>
            <a:p>
              <a:pPr marL="171450" indent="-171450">
                <a:lnSpc>
                  <a:spcPct val="120000"/>
                </a:lnSpc>
                <a:buFontTx/>
                <a:buChar char="-"/>
              </a:pPr>
              <a:r>
                <a:rPr lang="ko-KR" altLang="en-US" sz="1200" spc="-70" dirty="0">
                  <a:solidFill>
                    <a:schemeClr val="bg1"/>
                  </a:solidFill>
                </a:rPr>
                <a:t>비밀번호 형식 </a:t>
              </a:r>
              <a:r>
                <a:rPr lang="en-US" altLang="ko-KR" sz="1200" spc="-70" dirty="0">
                  <a:solidFill>
                    <a:schemeClr val="bg1"/>
                  </a:solidFill>
                </a:rPr>
                <a:t>X, </a:t>
              </a:r>
              <a:r>
                <a:rPr lang="ko-KR" altLang="en-US" sz="1200" spc="-70" dirty="0">
                  <a:solidFill>
                    <a:schemeClr val="bg1"/>
                  </a:solidFill>
                </a:rPr>
                <a:t>비밀번호</a:t>
              </a:r>
              <a:r>
                <a:rPr lang="en-US" altLang="ko-KR" sz="1200" spc="-70" dirty="0">
                  <a:solidFill>
                    <a:schemeClr val="bg1"/>
                  </a:solidFill>
                </a:rPr>
                <a:t>, </a:t>
              </a:r>
              <a:r>
                <a:rPr lang="ko-KR" altLang="en-US" sz="1200" spc="-70" dirty="0">
                  <a:solidFill>
                    <a:schemeClr val="bg1"/>
                  </a:solidFill>
                </a:rPr>
                <a:t>비밀번호 확인 불일치 </a:t>
              </a:r>
              <a:br>
                <a:rPr lang="en-US" altLang="ko-KR" sz="1200" spc="-70" dirty="0">
                  <a:solidFill>
                    <a:schemeClr val="bg1"/>
                  </a:solidFill>
                </a:rPr>
              </a:br>
              <a:r>
                <a:rPr lang="ko-KR" altLang="en-US" sz="1200" spc="-70" dirty="0">
                  <a:solidFill>
                    <a:schemeClr val="bg1"/>
                  </a:solidFill>
                </a:rPr>
                <a:t>→ 에러 문구 표시</a:t>
              </a:r>
              <a:endParaRPr lang="en-US" altLang="ko-KR" sz="1200" spc="-70" dirty="0">
                <a:solidFill>
                  <a:schemeClr val="bg1"/>
                </a:solidFill>
              </a:endParaRPr>
            </a:p>
            <a:p>
              <a:pPr marL="171450" indent="-171450">
                <a:lnSpc>
                  <a:spcPct val="120000"/>
                </a:lnSpc>
                <a:buFontTx/>
                <a:buChar char="-"/>
              </a:pPr>
              <a:endParaRPr lang="en-US" altLang="ko-KR" sz="1200" spc="-70" dirty="0">
                <a:solidFill>
                  <a:schemeClr val="bg1"/>
                </a:solidFill>
              </a:endParaRPr>
            </a:p>
            <a:p>
              <a:pPr marL="171450" indent="-171450">
                <a:lnSpc>
                  <a:spcPct val="120000"/>
                </a:lnSpc>
                <a:buFontTx/>
                <a:buChar char="-"/>
              </a:pPr>
              <a:r>
                <a:rPr lang="ko-KR" altLang="en-US" sz="1200" spc="-70" dirty="0">
                  <a:solidFill>
                    <a:schemeClr val="bg1"/>
                  </a:solidFill>
                </a:rPr>
                <a:t>인증 메일 발송 클릭</a:t>
              </a:r>
              <a:br>
                <a:rPr lang="en-US" altLang="ko-KR" sz="1200" spc="-70" dirty="0">
                  <a:solidFill>
                    <a:schemeClr val="bg1"/>
                  </a:solidFill>
                </a:rPr>
              </a:br>
              <a:r>
                <a:rPr lang="ko-KR" altLang="en-US" sz="1200" spc="-70" dirty="0">
                  <a:solidFill>
                    <a:schemeClr val="bg1"/>
                  </a:solidFill>
                </a:rPr>
                <a:t>→ 해당 이메일로 이메일 </a:t>
              </a:r>
              <a:br>
                <a:rPr lang="en-US" altLang="ko-KR" sz="1200" spc="-70" dirty="0">
                  <a:solidFill>
                    <a:schemeClr val="bg1"/>
                  </a:solidFill>
                </a:rPr>
              </a:br>
              <a:r>
                <a:rPr lang="ko-KR" altLang="en-US" sz="1200" spc="-70" dirty="0">
                  <a:solidFill>
                    <a:schemeClr val="bg1"/>
                  </a:solidFill>
                </a:rPr>
                <a:t>인증 요청 발송</a:t>
              </a:r>
              <a:endParaRPr lang="en-US" altLang="ko-KR" sz="1200" spc="-7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97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EBBF6-9A51-1BD1-74B6-D56C3582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804017B-34D3-3C80-16C2-AD46D3C40F8C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A128D00-B883-A6C4-1231-1DFEC6748EF5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5D7485-3A61-44FC-E773-23638F60CC6B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C9F6CE-FD3E-FBBB-C78C-A0DF7E3B0F4C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18FEFD8-21F0-CAFD-AEE5-72EF5B4E7369}"/>
              </a:ext>
            </a:extLst>
          </p:cNvPr>
          <p:cNvGrpSpPr/>
          <p:nvPr/>
        </p:nvGrpSpPr>
        <p:grpSpPr>
          <a:xfrm>
            <a:off x="276836" y="1283534"/>
            <a:ext cx="2171089" cy="608077"/>
            <a:chOff x="276836" y="1474033"/>
            <a:chExt cx="2171089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B79CCE-2036-0A12-C2DC-A008E3405BDE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49B640-291F-54FA-3D5D-3275B5E1E36E}"/>
                </a:ext>
              </a:extLst>
            </p:cNvPr>
            <p:cNvSpPr txBox="1"/>
            <p:nvPr/>
          </p:nvSpPr>
          <p:spPr>
            <a:xfrm>
              <a:off x="276836" y="1805111"/>
              <a:ext cx="2171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이메일로 회원가입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B241441-1947-06BF-E9D7-DC21A455BBF0}"/>
              </a:ext>
            </a:extLst>
          </p:cNvPr>
          <p:cNvSpPr txBox="1"/>
          <p:nvPr/>
        </p:nvSpPr>
        <p:spPr>
          <a:xfrm>
            <a:off x="3020037" y="262369"/>
            <a:ext cx="40334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이메일로 회원가입 관련 전체 초안 이미지</a:t>
            </a:r>
          </a:p>
        </p:txBody>
      </p:sp>
      <p:pic>
        <p:nvPicPr>
          <p:cNvPr id="19" name="그림 18" descr="텍스트, 스크린샷, 번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709694-8B22-4D30-F5A1-8F2FE3465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495" y="-3"/>
            <a:ext cx="4897635" cy="6858000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290305-3E67-1A08-5FBA-C74DA09DA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114" y="717131"/>
            <a:ext cx="4204648" cy="3173396"/>
          </a:xfrm>
          <a:prstGeom prst="rect">
            <a:avLst/>
          </a:prstGeom>
        </p:spPr>
      </p:pic>
      <p:pic>
        <p:nvPicPr>
          <p:cNvPr id="22" name="그림 21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118C6-C3BF-F8D3-F47C-4C5AC979E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114" y="4020939"/>
            <a:ext cx="2543679" cy="586722"/>
          </a:xfrm>
          <a:prstGeom prst="rect">
            <a:avLst/>
          </a:prstGeom>
        </p:spPr>
      </p:pic>
      <p:pic>
        <p:nvPicPr>
          <p:cNvPr id="24" name="그림 2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C5E360-F325-E425-4B9E-3DE4B55626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114" y="4765953"/>
            <a:ext cx="3623733" cy="18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3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BE77-D3EA-8197-AAB2-C8E78FF2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E129FA-6DBB-DF18-BB23-CD5C32266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487" y="1462272"/>
            <a:ext cx="4225579" cy="27062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2785095-B7EF-3E8D-1229-F336543C9959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E0C2277-243E-9EDC-B1EE-CB43F0357A58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321DBA2-8668-507D-5C4E-38D11AB7D3A9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0A2240-6C1A-B75E-5988-2271D061A96D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69353C-B176-E7A6-AC78-F649B8E249CF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5578284-8613-5F2D-5034-1837839F5B2A}"/>
              </a:ext>
            </a:extLst>
          </p:cNvPr>
          <p:cNvGrpSpPr/>
          <p:nvPr/>
        </p:nvGrpSpPr>
        <p:grpSpPr>
          <a:xfrm>
            <a:off x="276836" y="1283534"/>
            <a:ext cx="2281523" cy="608077"/>
            <a:chOff x="276836" y="1474033"/>
            <a:chExt cx="2281523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2F6603-1C85-1F86-0A05-AF0F7A225916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D4F319-7817-FE6D-418B-83C90BF7ACE1}"/>
                </a:ext>
              </a:extLst>
            </p:cNvPr>
            <p:cNvSpPr txBox="1"/>
            <p:nvPr/>
          </p:nvSpPr>
          <p:spPr>
            <a:xfrm>
              <a:off x="276836" y="1805111"/>
              <a:ext cx="2281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마이페이지 </a:t>
              </a:r>
              <a:r>
                <a:rPr lang="en-US" altLang="ko-KR" sz="1200" dirty="0">
                  <a:solidFill>
                    <a:schemeClr val="bg1"/>
                  </a:solidFill>
                </a:rPr>
                <a:t>– </a:t>
              </a:r>
              <a:r>
                <a:rPr lang="ko-KR" altLang="en-US" sz="1200" dirty="0">
                  <a:solidFill>
                    <a:schemeClr val="bg1"/>
                  </a:solidFill>
                </a:rPr>
                <a:t>회원 </a:t>
              </a:r>
              <a:r>
                <a:rPr lang="en-US" altLang="ko-KR" sz="1200" dirty="0">
                  <a:solidFill>
                    <a:schemeClr val="bg1"/>
                  </a:solidFill>
                </a:rPr>
                <a:t>/</a:t>
              </a:r>
              <a:r>
                <a:rPr lang="ko-KR" altLang="en-US" sz="1200" dirty="0">
                  <a:solidFill>
                    <a:schemeClr val="bg1"/>
                  </a:solidFill>
                </a:rPr>
                <a:t>회사 정보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7A53BC0-0CB4-24D7-D21D-07197DA981A8}"/>
              </a:ext>
            </a:extLst>
          </p:cNvPr>
          <p:cNvSpPr txBox="1"/>
          <p:nvPr/>
        </p:nvSpPr>
        <p:spPr>
          <a:xfrm>
            <a:off x="3020037" y="52052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D24D4C-A7A1-6D58-2E16-FCDC2F097BC4}"/>
              </a:ext>
            </a:extLst>
          </p:cNvPr>
          <p:cNvSpPr txBox="1"/>
          <p:nvPr/>
        </p:nvSpPr>
        <p:spPr>
          <a:xfrm>
            <a:off x="3020037" y="262369"/>
            <a:ext cx="29979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마이페이지 </a:t>
            </a:r>
            <a:r>
              <a:rPr lang="en-US" altLang="ko-KR" sz="1600" b="1" dirty="0">
                <a:solidFill>
                  <a:srgbClr val="6759B6"/>
                </a:solidFill>
              </a:rPr>
              <a:t>– </a:t>
            </a:r>
            <a:r>
              <a:rPr lang="ko-KR" altLang="en-US" sz="1600" b="1" dirty="0">
                <a:solidFill>
                  <a:srgbClr val="6759B6"/>
                </a:solidFill>
              </a:rPr>
              <a:t>회원 </a:t>
            </a:r>
            <a:r>
              <a:rPr lang="en-US" altLang="ko-KR" sz="1600" b="1" dirty="0">
                <a:solidFill>
                  <a:srgbClr val="6759B6"/>
                </a:solidFill>
              </a:rPr>
              <a:t>/ </a:t>
            </a:r>
            <a:r>
              <a:rPr lang="ko-KR" altLang="en-US" sz="1600" b="1" dirty="0">
                <a:solidFill>
                  <a:srgbClr val="6759B6"/>
                </a:solidFill>
              </a:rPr>
              <a:t>회사 정보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7A2D11-B840-4EC0-0EA3-FB40FD5A7D9B}"/>
              </a:ext>
            </a:extLst>
          </p:cNvPr>
          <p:cNvSpPr txBox="1"/>
          <p:nvPr/>
        </p:nvSpPr>
        <p:spPr>
          <a:xfrm>
            <a:off x="4238883" y="5218898"/>
            <a:ext cx="324257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마이페이지 </a:t>
            </a: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–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회원 정보 </a:t>
            </a: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/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회사 정보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31CD7B-067F-67F6-B7C2-737189E2BF6E}"/>
              </a:ext>
            </a:extLst>
          </p:cNvPr>
          <p:cNvSpPr txBox="1"/>
          <p:nvPr/>
        </p:nvSpPr>
        <p:spPr>
          <a:xfrm>
            <a:off x="9221564" y="521889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481392-2986-F0DE-1DCF-64D10F9871C6}"/>
              </a:ext>
            </a:extLst>
          </p:cNvPr>
          <p:cNvSpPr txBox="1"/>
          <p:nvPr/>
        </p:nvSpPr>
        <p:spPr>
          <a:xfrm>
            <a:off x="4260548" y="5527637"/>
            <a:ext cx="4546309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회원가입 시 기재한 정보 보여주는 화면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선택 항목들은 기재 안 했을 시 공백으로 표시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 err="1"/>
              <a:t>네비</a:t>
            </a:r>
            <a:r>
              <a:rPr lang="ko-KR" altLang="en-US" sz="1200" dirty="0"/>
              <a:t> 바 텍스트 클릭 시 → 해당하는 정보</a:t>
            </a:r>
            <a:r>
              <a:rPr lang="en-US" altLang="ko-KR" sz="1200" dirty="0"/>
              <a:t> </a:t>
            </a:r>
            <a:r>
              <a:rPr lang="ko-KR" altLang="en-US" sz="1200" dirty="0"/>
              <a:t>페이지로 보여줌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수정 모드 시 </a:t>
            </a:r>
            <a:r>
              <a:rPr lang="ko-KR" altLang="en-US" sz="1200" dirty="0"/>
              <a:t>입력 창 모양으로 변환</a:t>
            </a:r>
            <a:r>
              <a:rPr lang="en-US" altLang="ko-KR" sz="1200" dirty="0"/>
              <a:t> / </a:t>
            </a:r>
            <a:r>
              <a:rPr lang="ko-KR" altLang="en-US" sz="1200" dirty="0"/>
              <a:t>완료 후 → 기본 모드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회사 정보 탭도 이와 동일</a:t>
            </a:r>
            <a:endParaRPr lang="en-US" altLang="ko-KR" sz="1200" dirty="0">
              <a:effectLst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05444A-8C78-3798-4B09-17465E47F30E}"/>
              </a:ext>
            </a:extLst>
          </p:cNvPr>
          <p:cNvSpPr txBox="1"/>
          <p:nvPr/>
        </p:nvSpPr>
        <p:spPr>
          <a:xfrm>
            <a:off x="9229378" y="5528632"/>
            <a:ext cx="1918681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회원 정보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수정 버튼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 err="1"/>
              <a:t>네비</a:t>
            </a:r>
            <a:r>
              <a:rPr lang="ko-KR" altLang="en-US" sz="1200" dirty="0"/>
              <a:t> 바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수정 모드 상태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완료</a:t>
            </a:r>
            <a:r>
              <a:rPr lang="en-US" altLang="ko-KR" sz="1200" dirty="0"/>
              <a:t>/</a:t>
            </a:r>
            <a:r>
              <a:rPr lang="ko-KR" altLang="en-US" sz="1200" dirty="0"/>
              <a:t>취소 버튼</a:t>
            </a:r>
            <a:endParaRPr lang="en-US" altLang="ko-KR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E7ECC6-8F64-0DAE-E261-D114728C90BE}"/>
              </a:ext>
            </a:extLst>
          </p:cNvPr>
          <p:cNvSpPr txBox="1"/>
          <p:nvPr/>
        </p:nvSpPr>
        <p:spPr>
          <a:xfrm>
            <a:off x="6017974" y="308372"/>
            <a:ext cx="3840093" cy="29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dirty="0"/>
              <a:t>완료 버튼 클릭 → 수정된 사항 </a:t>
            </a:r>
            <a:r>
              <a:rPr lang="en-US" altLang="ko-KR" sz="1200" dirty="0"/>
              <a:t>DB</a:t>
            </a:r>
            <a:r>
              <a:rPr lang="ko-KR" altLang="en-US" sz="1200" dirty="0"/>
              <a:t>에 정보 업데이트</a:t>
            </a:r>
            <a:endParaRPr lang="en-US" altLang="ko-KR" sz="1200" dirty="0"/>
          </a:p>
        </p:txBody>
      </p:sp>
      <p:pic>
        <p:nvPicPr>
          <p:cNvPr id="23" name="그림 2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AC2363-7C6B-B198-6FCC-41684317F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556" y="1446957"/>
            <a:ext cx="4299094" cy="27237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5" name="타원 34">
            <a:extLst>
              <a:ext uri="{FF2B5EF4-FFF2-40B4-BE49-F238E27FC236}">
                <a16:creationId xmlns:a16="http://schemas.microsoft.com/office/drawing/2014/main" id="{7514B59E-49C9-DE5D-5D6F-CEFC1C1AAB70}"/>
              </a:ext>
            </a:extLst>
          </p:cNvPr>
          <p:cNvSpPr/>
          <p:nvPr/>
        </p:nvSpPr>
        <p:spPr>
          <a:xfrm>
            <a:off x="3235400" y="2250741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E6D2C97-CB0A-DE2D-945D-0177DC6CB08C}"/>
              </a:ext>
            </a:extLst>
          </p:cNvPr>
          <p:cNvSpPr/>
          <p:nvPr/>
        </p:nvSpPr>
        <p:spPr>
          <a:xfrm>
            <a:off x="3459238" y="2349500"/>
            <a:ext cx="2636762" cy="1371600"/>
          </a:xfrm>
          <a:prstGeom prst="roundRect">
            <a:avLst>
              <a:gd name="adj" fmla="val 5556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F9E2DF0-3A1E-4E24-39F9-E836D4F4925B}"/>
              </a:ext>
            </a:extLst>
          </p:cNvPr>
          <p:cNvSpPr/>
          <p:nvPr/>
        </p:nvSpPr>
        <p:spPr>
          <a:xfrm>
            <a:off x="6319838" y="1938338"/>
            <a:ext cx="652462" cy="1858962"/>
          </a:xfrm>
          <a:prstGeom prst="roundRect">
            <a:avLst>
              <a:gd name="adj" fmla="val 5556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275B227-8150-A619-CB90-19D36D70A449}"/>
              </a:ext>
            </a:extLst>
          </p:cNvPr>
          <p:cNvSpPr/>
          <p:nvPr/>
        </p:nvSpPr>
        <p:spPr>
          <a:xfrm>
            <a:off x="8033451" y="2324100"/>
            <a:ext cx="2636762" cy="1371600"/>
          </a:xfrm>
          <a:prstGeom prst="roundRect">
            <a:avLst>
              <a:gd name="adj" fmla="val 5556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60A28BAE-19A8-C711-5EB0-C24F143A23D7}"/>
              </a:ext>
            </a:extLst>
          </p:cNvPr>
          <p:cNvSpPr/>
          <p:nvPr/>
        </p:nvSpPr>
        <p:spPr>
          <a:xfrm>
            <a:off x="5530881" y="1997613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8DE21336-9A32-9988-6A4B-DBFFD992D758}"/>
              </a:ext>
            </a:extLst>
          </p:cNvPr>
          <p:cNvSpPr/>
          <p:nvPr/>
        </p:nvSpPr>
        <p:spPr>
          <a:xfrm>
            <a:off x="6096000" y="1816598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3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C49DD8F-6613-335F-244F-6AF5F8E8C7AE}"/>
              </a:ext>
            </a:extLst>
          </p:cNvPr>
          <p:cNvSpPr/>
          <p:nvPr/>
        </p:nvSpPr>
        <p:spPr>
          <a:xfrm>
            <a:off x="7795318" y="2250741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4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689277CC-5A8C-B75A-2136-E380E812D7AE}"/>
              </a:ext>
            </a:extLst>
          </p:cNvPr>
          <p:cNvSpPr/>
          <p:nvPr/>
        </p:nvSpPr>
        <p:spPr>
          <a:xfrm>
            <a:off x="7795318" y="3721100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5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575698-9F3D-7E24-030B-938D8B2A6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920" y="1701289"/>
            <a:ext cx="993815" cy="1179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A801B3-74F9-607B-A38E-E9A944175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078" y="1701289"/>
            <a:ext cx="993815" cy="11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82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6CCBA-2DB8-90DB-C336-AB7644F1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22F996-3F8C-9983-0EEF-3872CF8A8CBB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C3995B0-0A85-5101-4C89-5BDF8D603576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B0F3EB9-15FC-3D91-CECA-416477E53BE7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987341-505B-A76E-7AE2-A4974648653A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EDC992-69D7-322E-C428-CDBE66D20DD6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700A305-126B-326B-1089-84DE04AF4C11}"/>
              </a:ext>
            </a:extLst>
          </p:cNvPr>
          <p:cNvGrpSpPr/>
          <p:nvPr/>
        </p:nvGrpSpPr>
        <p:grpSpPr>
          <a:xfrm>
            <a:off x="276836" y="1283534"/>
            <a:ext cx="2281523" cy="608077"/>
            <a:chOff x="276836" y="1474033"/>
            <a:chExt cx="2281523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FCE7E4-24C4-2FAC-0A38-32C87EE3AABF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D647E5-1E8D-A8A4-82C9-5D98B7249225}"/>
                </a:ext>
              </a:extLst>
            </p:cNvPr>
            <p:cNvSpPr txBox="1"/>
            <p:nvPr/>
          </p:nvSpPr>
          <p:spPr>
            <a:xfrm>
              <a:off x="276836" y="1805111"/>
              <a:ext cx="2281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마이페이지 </a:t>
              </a:r>
              <a:r>
                <a:rPr lang="en-US" altLang="ko-KR" sz="1200" dirty="0">
                  <a:solidFill>
                    <a:schemeClr val="bg1"/>
                  </a:solidFill>
                </a:rPr>
                <a:t>– </a:t>
              </a:r>
              <a:r>
                <a:rPr lang="ko-KR" altLang="en-US" sz="1200" dirty="0">
                  <a:solidFill>
                    <a:schemeClr val="bg1"/>
                  </a:solidFill>
                </a:rPr>
                <a:t>즐겨찾기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69042AE-F658-B04A-D115-87B7953C5160}"/>
              </a:ext>
            </a:extLst>
          </p:cNvPr>
          <p:cNvSpPr txBox="1"/>
          <p:nvPr/>
        </p:nvSpPr>
        <p:spPr>
          <a:xfrm>
            <a:off x="3020037" y="52052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A17A7B-8962-D54E-DC53-EA2AF3A238C7}"/>
              </a:ext>
            </a:extLst>
          </p:cNvPr>
          <p:cNvSpPr txBox="1"/>
          <p:nvPr/>
        </p:nvSpPr>
        <p:spPr>
          <a:xfrm>
            <a:off x="3020037" y="262369"/>
            <a:ext cx="2281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마이페이지 </a:t>
            </a:r>
            <a:r>
              <a:rPr lang="en-US" altLang="ko-KR" sz="1600" b="1" dirty="0">
                <a:solidFill>
                  <a:srgbClr val="6759B6"/>
                </a:solidFill>
              </a:rPr>
              <a:t>– </a:t>
            </a:r>
            <a:r>
              <a:rPr lang="ko-KR" altLang="en-US" sz="1600" b="1" dirty="0">
                <a:solidFill>
                  <a:srgbClr val="6759B6"/>
                </a:solidFill>
              </a:rPr>
              <a:t>즐겨찾기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692777-68D9-2869-2FDA-DCC307EA060C}"/>
              </a:ext>
            </a:extLst>
          </p:cNvPr>
          <p:cNvSpPr txBox="1"/>
          <p:nvPr/>
        </p:nvSpPr>
        <p:spPr>
          <a:xfrm>
            <a:off x="4238884" y="5218898"/>
            <a:ext cx="3152516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마이페이지 </a:t>
            </a: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–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즐겨찾기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70A39A-DF26-1A1C-61D5-2E907C6517CB}"/>
              </a:ext>
            </a:extLst>
          </p:cNvPr>
          <p:cNvSpPr txBox="1"/>
          <p:nvPr/>
        </p:nvSpPr>
        <p:spPr>
          <a:xfrm>
            <a:off x="4260548" y="5527637"/>
            <a:ext cx="4546309" cy="9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사용자가 </a:t>
            </a:r>
            <a:r>
              <a:rPr lang="ko-KR" altLang="en-US" sz="1200" dirty="0" err="1"/>
              <a:t>즐겨찾기한</a:t>
            </a:r>
            <a:r>
              <a:rPr lang="ko-KR" altLang="en-US" sz="1200" dirty="0"/>
              <a:t> 품목 리스트로 보여주는 화면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품목 페이지에서 즐겨찾기 한 전체 정보 불러옴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품목별</a:t>
            </a:r>
            <a:r>
              <a:rPr lang="en-US" altLang="ko-KR" sz="1200" dirty="0"/>
              <a:t>, </a:t>
            </a:r>
            <a:r>
              <a:rPr lang="ko-KR" altLang="en-US" sz="1200" dirty="0"/>
              <a:t>국가별로 설정해서 원하는 정보만 볼 수 있음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즐겨 찾기 삭제 가능</a:t>
            </a:r>
            <a:endParaRPr lang="en-US" altLang="ko-KR" sz="1200" dirty="0"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D9AA08-2DBA-9D20-300F-BD82F2349565}"/>
              </a:ext>
            </a:extLst>
          </p:cNvPr>
          <p:cNvSpPr txBox="1"/>
          <p:nvPr/>
        </p:nvSpPr>
        <p:spPr>
          <a:xfrm>
            <a:off x="8994163" y="521889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ADA670-0A8F-B085-868E-4A09ABBBD055}"/>
              </a:ext>
            </a:extLst>
          </p:cNvPr>
          <p:cNvSpPr txBox="1"/>
          <p:nvPr/>
        </p:nvSpPr>
        <p:spPr>
          <a:xfrm>
            <a:off x="9001978" y="5528632"/>
            <a:ext cx="2654930" cy="51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1) </a:t>
            </a:r>
            <a:r>
              <a:rPr lang="ko-KR" altLang="en-US" sz="1200" dirty="0"/>
              <a:t>전체</a:t>
            </a:r>
            <a:r>
              <a:rPr lang="en-US" altLang="ko-KR" sz="1200" dirty="0"/>
              <a:t>/</a:t>
            </a:r>
            <a:r>
              <a:rPr lang="ko-KR" altLang="en-US" sz="1200" dirty="0"/>
              <a:t>품목별</a:t>
            </a:r>
            <a:r>
              <a:rPr lang="en-US" altLang="ko-KR" sz="1200" dirty="0"/>
              <a:t>/</a:t>
            </a:r>
            <a:r>
              <a:rPr lang="ko-KR" altLang="en-US" sz="1200" dirty="0"/>
              <a:t>국가별 설정</a:t>
            </a:r>
            <a:r>
              <a:rPr lang="en-US" altLang="ko-KR" sz="1200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ko-KR" sz="1200" dirty="0"/>
              <a:t>2) </a:t>
            </a:r>
            <a:r>
              <a:rPr lang="ko-KR" altLang="en-US" sz="1200" dirty="0" err="1"/>
              <a:t>즐겨찾기한</a:t>
            </a:r>
            <a:r>
              <a:rPr lang="ko-KR" altLang="en-US" sz="1200" dirty="0"/>
              <a:t> 품목 리스트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5608C9-3680-06F0-50D5-3BDEEAB30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325" y="909662"/>
            <a:ext cx="5829000" cy="3548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31DC2597-6F55-7D21-65A0-6B0B5A409F05}"/>
              </a:ext>
            </a:extLst>
          </p:cNvPr>
          <p:cNvSpPr/>
          <p:nvPr/>
        </p:nvSpPr>
        <p:spPr>
          <a:xfrm>
            <a:off x="5323997" y="2294567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278A1F-DBCE-3939-F4F2-C10E2FE32908}"/>
              </a:ext>
            </a:extLst>
          </p:cNvPr>
          <p:cNvSpPr/>
          <p:nvPr/>
        </p:nvSpPr>
        <p:spPr>
          <a:xfrm>
            <a:off x="5576066" y="2322275"/>
            <a:ext cx="3425912" cy="1967466"/>
          </a:xfrm>
          <a:prstGeom prst="roundRect">
            <a:avLst>
              <a:gd name="adj" fmla="val 2328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4D659E2-6340-3FB9-9F35-70288740DFC5}"/>
              </a:ext>
            </a:extLst>
          </p:cNvPr>
          <p:cNvSpPr/>
          <p:nvPr/>
        </p:nvSpPr>
        <p:spPr>
          <a:xfrm>
            <a:off x="5576066" y="1985827"/>
            <a:ext cx="1212661" cy="266649"/>
          </a:xfrm>
          <a:prstGeom prst="roundRect">
            <a:avLst>
              <a:gd name="adj" fmla="val 15082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C91859B-3B94-A09A-A7C4-88A00212BA1C}"/>
              </a:ext>
            </a:extLst>
          </p:cNvPr>
          <p:cNvSpPr/>
          <p:nvPr/>
        </p:nvSpPr>
        <p:spPr>
          <a:xfrm>
            <a:off x="5323997" y="1887070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7042AD-8A62-6DDF-D31D-A5DDFB7BB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430" y="1219777"/>
            <a:ext cx="1298869" cy="15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5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1DBFD-160D-D63C-BF5D-18952F0E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2A8A0D-98F7-6C17-DDC4-0E3EDBA08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24" y="1443751"/>
            <a:ext cx="4528127" cy="250731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0ED7E6-1657-184C-487E-D3CDBB3D0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355" y="1444253"/>
            <a:ext cx="4175689" cy="251593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626F34F-0673-0151-5EC6-D1FF1DC71A54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D5F838D-0722-9B4F-879C-058FA6B9CDE1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E75C73F-F298-C389-8D9C-627177401545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A18ECC-8A67-84E9-04D7-B8501155B179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3AC70A-C1DB-7449-D2D4-F2D52B6172DC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92DF085-A57B-6AB9-4D03-17FA6085E23E}"/>
              </a:ext>
            </a:extLst>
          </p:cNvPr>
          <p:cNvGrpSpPr/>
          <p:nvPr/>
        </p:nvGrpSpPr>
        <p:grpSpPr>
          <a:xfrm>
            <a:off x="276836" y="1283534"/>
            <a:ext cx="2281523" cy="608077"/>
            <a:chOff x="276836" y="1474033"/>
            <a:chExt cx="2281523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9716F4-17C5-BDA1-B022-05FFD6C916FE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7660C5-9826-3846-DE2E-3D5AB0AE50AA}"/>
                </a:ext>
              </a:extLst>
            </p:cNvPr>
            <p:cNvSpPr txBox="1"/>
            <p:nvPr/>
          </p:nvSpPr>
          <p:spPr>
            <a:xfrm>
              <a:off x="276836" y="1805111"/>
              <a:ext cx="2281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마이페이지 </a:t>
              </a:r>
              <a:r>
                <a:rPr lang="en-US" altLang="ko-KR" sz="1200" dirty="0">
                  <a:solidFill>
                    <a:schemeClr val="bg1"/>
                  </a:solidFill>
                </a:rPr>
                <a:t>– </a:t>
              </a:r>
              <a:r>
                <a:rPr lang="ko-KR" altLang="en-US" sz="1200" dirty="0">
                  <a:solidFill>
                    <a:schemeClr val="bg1"/>
                  </a:solidFill>
                </a:rPr>
                <a:t>내 상품 리스트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A1CD853-AF66-5861-B843-C4119B4526D9}"/>
              </a:ext>
            </a:extLst>
          </p:cNvPr>
          <p:cNvSpPr txBox="1"/>
          <p:nvPr/>
        </p:nvSpPr>
        <p:spPr>
          <a:xfrm>
            <a:off x="3020037" y="52052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09313C-700A-C70F-D425-F771B6F44CD4}"/>
              </a:ext>
            </a:extLst>
          </p:cNvPr>
          <p:cNvSpPr txBox="1"/>
          <p:nvPr/>
        </p:nvSpPr>
        <p:spPr>
          <a:xfrm>
            <a:off x="3020037" y="262369"/>
            <a:ext cx="2836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마이페이지 </a:t>
            </a:r>
            <a:r>
              <a:rPr lang="en-US" altLang="ko-KR" sz="1600" b="1" dirty="0">
                <a:solidFill>
                  <a:srgbClr val="6759B6"/>
                </a:solidFill>
              </a:rPr>
              <a:t>– </a:t>
            </a:r>
            <a:r>
              <a:rPr lang="ko-KR" altLang="en-US" sz="1600" b="1" dirty="0">
                <a:solidFill>
                  <a:srgbClr val="6759B6"/>
                </a:solidFill>
              </a:rPr>
              <a:t>내 상품 리스트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96012-D7AE-9912-A04E-188731E30CBE}"/>
              </a:ext>
            </a:extLst>
          </p:cNvPr>
          <p:cNvSpPr txBox="1"/>
          <p:nvPr/>
        </p:nvSpPr>
        <p:spPr>
          <a:xfrm>
            <a:off x="4238884" y="5218898"/>
            <a:ext cx="3152516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마이페이지 </a:t>
            </a: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–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내 상품 리스트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2108D6-326E-3CF6-42E1-B747188DDA0C}"/>
              </a:ext>
            </a:extLst>
          </p:cNvPr>
          <p:cNvSpPr txBox="1"/>
          <p:nvPr/>
        </p:nvSpPr>
        <p:spPr>
          <a:xfrm>
            <a:off x="4260548" y="5527637"/>
            <a:ext cx="5134912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중개 플랫폼에서 판매 등록 후 게시물 등록 시 해당</a:t>
            </a:r>
            <a:br>
              <a:rPr lang="en-US" altLang="ko-KR" sz="1200" dirty="0"/>
            </a:br>
            <a:r>
              <a:rPr lang="ko-KR" altLang="en-US" sz="1200" dirty="0"/>
              <a:t>유저의 상품이 </a:t>
            </a:r>
            <a:r>
              <a:rPr lang="en-US" altLang="ko-KR" sz="1200" dirty="0" err="1"/>
              <a:t>GlobalGo</a:t>
            </a:r>
            <a:r>
              <a:rPr lang="en-US" altLang="ko-KR" sz="1200" dirty="0"/>
              <a:t> </a:t>
            </a:r>
            <a:r>
              <a:rPr lang="ko-KR" altLang="en-US" sz="1200" dirty="0"/>
              <a:t>게시판에 올라감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해당 유저의 상품 목록들은 마이페이지에서 볼 </a:t>
            </a:r>
            <a:r>
              <a:rPr lang="ko-KR" altLang="en-US" sz="1200" dirty="0"/>
              <a:t>수 있음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해당 상품 클릭 시 상세 내용 페이지로 이동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해당 플랫폼에 상품 등록 완료 됐으면 해당 링크로 가는 버튼 활성화</a:t>
            </a:r>
            <a:endParaRPr lang="en-US" altLang="ko-KR" sz="1200" dirty="0"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6F55D7-B038-276F-04C1-F6D0FA17AD7B}"/>
              </a:ext>
            </a:extLst>
          </p:cNvPr>
          <p:cNvSpPr txBox="1"/>
          <p:nvPr/>
        </p:nvSpPr>
        <p:spPr>
          <a:xfrm>
            <a:off x="9529255" y="5218898"/>
            <a:ext cx="2654931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BA2F5E-8D50-FDD1-4203-992D267D8467}"/>
              </a:ext>
            </a:extLst>
          </p:cNvPr>
          <p:cNvSpPr txBox="1"/>
          <p:nvPr/>
        </p:nvSpPr>
        <p:spPr>
          <a:xfrm>
            <a:off x="9537070" y="5528632"/>
            <a:ext cx="2654930" cy="9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상품 썸네일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돌아가기 버튼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상품 상세 내용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상품 보러 가기 버튼</a:t>
            </a:r>
            <a:endParaRPr lang="en-US" altLang="ko-KR" sz="12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8B9724-24A1-E3D0-69CD-5D99CF8B5DE9}"/>
              </a:ext>
            </a:extLst>
          </p:cNvPr>
          <p:cNvSpPr/>
          <p:nvPr/>
        </p:nvSpPr>
        <p:spPr>
          <a:xfrm>
            <a:off x="7737059" y="2151342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DAC1134-494C-134E-2CF7-FC6A886CE15B}"/>
              </a:ext>
            </a:extLst>
          </p:cNvPr>
          <p:cNvSpPr/>
          <p:nvPr/>
        </p:nvSpPr>
        <p:spPr>
          <a:xfrm>
            <a:off x="7970459" y="2348859"/>
            <a:ext cx="3590773" cy="1394466"/>
          </a:xfrm>
          <a:prstGeom prst="roundRect">
            <a:avLst>
              <a:gd name="adj" fmla="val 1652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91188E7-604D-766B-836F-F4C2B269505E}"/>
              </a:ext>
            </a:extLst>
          </p:cNvPr>
          <p:cNvSpPr/>
          <p:nvPr/>
        </p:nvSpPr>
        <p:spPr>
          <a:xfrm>
            <a:off x="3813842" y="2468033"/>
            <a:ext cx="461826" cy="694267"/>
          </a:xfrm>
          <a:prstGeom prst="roundRect">
            <a:avLst>
              <a:gd name="adj" fmla="val 6618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940DD66-4348-6B08-DAA1-B2714302763E}"/>
              </a:ext>
            </a:extLst>
          </p:cNvPr>
          <p:cNvSpPr/>
          <p:nvPr/>
        </p:nvSpPr>
        <p:spPr>
          <a:xfrm>
            <a:off x="3739886" y="2365041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381FDA-8BEC-1087-BE02-3CFE6470B86E}"/>
              </a:ext>
            </a:extLst>
          </p:cNvPr>
          <p:cNvSpPr/>
          <p:nvPr/>
        </p:nvSpPr>
        <p:spPr>
          <a:xfrm>
            <a:off x="4867275" y="2052638"/>
            <a:ext cx="1495425" cy="147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8AE8BC9-A3DA-BC68-D28B-428CCF4C1954}"/>
              </a:ext>
            </a:extLst>
          </p:cNvPr>
          <p:cNvSpPr/>
          <p:nvPr/>
        </p:nvSpPr>
        <p:spPr>
          <a:xfrm>
            <a:off x="7970459" y="2184484"/>
            <a:ext cx="433766" cy="136264"/>
          </a:xfrm>
          <a:prstGeom prst="roundRect">
            <a:avLst>
              <a:gd name="adj" fmla="val 14561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ACED82D-266A-7ED4-9F46-E312AC7FC75F}"/>
              </a:ext>
            </a:extLst>
          </p:cNvPr>
          <p:cNvSpPr/>
          <p:nvPr/>
        </p:nvSpPr>
        <p:spPr>
          <a:xfrm>
            <a:off x="11443242" y="2297751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3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CCA873E-8EE0-600D-075C-75163A869928}"/>
              </a:ext>
            </a:extLst>
          </p:cNvPr>
          <p:cNvSpPr/>
          <p:nvPr/>
        </p:nvSpPr>
        <p:spPr>
          <a:xfrm>
            <a:off x="9138832" y="3429000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ysClr val="windowText" lastClr="000000"/>
                </a:solidFill>
              </a:rPr>
              <a:t>4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01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EBD4-7EB4-9E6A-4C07-ACB42FA9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D0EAE7-C9D1-97C1-75DB-66676E98C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384" y="1846720"/>
            <a:ext cx="4514664" cy="2332843"/>
          </a:xfrm>
          <a:prstGeom prst="rect">
            <a:avLst/>
          </a:prstGeom>
        </p:spPr>
      </p:pic>
      <p:pic>
        <p:nvPicPr>
          <p:cNvPr id="23" name="그림 2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280F98-B445-8F47-1D66-78375ADE1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016" y="1854777"/>
            <a:ext cx="4558071" cy="2355273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AAD7B92-CABE-9E16-B632-875876F20331}"/>
              </a:ext>
            </a:extLst>
          </p:cNvPr>
          <p:cNvSpPr/>
          <p:nvPr/>
        </p:nvSpPr>
        <p:spPr>
          <a:xfrm>
            <a:off x="3361205" y="3436436"/>
            <a:ext cx="3515360" cy="603998"/>
          </a:xfrm>
          <a:prstGeom prst="roundRect">
            <a:avLst>
              <a:gd name="adj" fmla="val 9274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C80325-8F13-364B-D682-E79FDADFDDDB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D21664B-5633-CF72-741A-407310358CD2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94B0D6F-2164-8B2D-9C4E-27BE2B6B1AE9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1EEC5ED-1E18-975F-3C26-00833E4F71B5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572102-D1A6-F287-D3F5-397B7A4DDD1B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CE053EA-2A85-61D8-84E8-D56F4850BEEE}"/>
              </a:ext>
            </a:extLst>
          </p:cNvPr>
          <p:cNvGrpSpPr/>
          <p:nvPr/>
        </p:nvGrpSpPr>
        <p:grpSpPr>
          <a:xfrm>
            <a:off x="276836" y="1283534"/>
            <a:ext cx="2281523" cy="608077"/>
            <a:chOff x="276836" y="1474033"/>
            <a:chExt cx="2281523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9B90F4-B504-6374-6821-B88D11D5D890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93FF3B-3086-FC14-153D-0661CCCFC7E9}"/>
                </a:ext>
              </a:extLst>
            </p:cNvPr>
            <p:cNvSpPr txBox="1"/>
            <p:nvPr/>
          </p:nvSpPr>
          <p:spPr>
            <a:xfrm>
              <a:off x="276836" y="1805111"/>
              <a:ext cx="2281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품목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C18A448-4594-567C-CC3C-A543C0C50124}"/>
              </a:ext>
            </a:extLst>
          </p:cNvPr>
          <p:cNvSpPr txBox="1"/>
          <p:nvPr/>
        </p:nvSpPr>
        <p:spPr>
          <a:xfrm>
            <a:off x="3020037" y="52052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F90F78-9CC1-F8F5-ADDF-4399F07E2460}"/>
              </a:ext>
            </a:extLst>
          </p:cNvPr>
          <p:cNvSpPr txBox="1"/>
          <p:nvPr/>
        </p:nvSpPr>
        <p:spPr>
          <a:xfrm>
            <a:off x="3020037" y="26236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품목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D2F0CA-9F61-2CB0-1B2A-EC8E01D3C45D}"/>
              </a:ext>
            </a:extLst>
          </p:cNvPr>
          <p:cNvSpPr txBox="1"/>
          <p:nvPr/>
        </p:nvSpPr>
        <p:spPr>
          <a:xfrm>
            <a:off x="3993350" y="5218898"/>
            <a:ext cx="3152516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품목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EF79CB-C0A7-0E93-0DBB-4F28C961F1C6}"/>
              </a:ext>
            </a:extLst>
          </p:cNvPr>
          <p:cNvSpPr txBox="1"/>
          <p:nvPr/>
        </p:nvSpPr>
        <p:spPr>
          <a:xfrm>
            <a:off x="4015014" y="5527637"/>
            <a:ext cx="5670852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사용자가 품목 버튼 클릭 시 나오는 화면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원하는 품목 입력 후 클릭 → 해당 품목 관련 상세 페이지로 이동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추천할 만한 품목들 하단에 추천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별 모양 클릭 유무 → 마이 페이지에 있는 </a:t>
            </a:r>
            <a:r>
              <a:rPr lang="ko-KR" altLang="en-US" sz="1200" dirty="0" err="1">
                <a:effectLst/>
              </a:rPr>
              <a:t>즐겨찾기에</a:t>
            </a:r>
            <a:r>
              <a:rPr lang="ko-KR" altLang="en-US" sz="1200" dirty="0">
                <a:effectLst/>
              </a:rPr>
              <a:t> 추가</a:t>
            </a:r>
            <a:r>
              <a:rPr lang="en-US" altLang="ko-KR" sz="1200" dirty="0">
                <a:effectLst/>
              </a:rPr>
              <a:t>/</a:t>
            </a:r>
            <a:r>
              <a:rPr lang="ko-KR" altLang="en-US" sz="1200" dirty="0">
                <a:effectLst/>
              </a:rPr>
              <a:t>삭제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입력된 품목 관련하여 수출예상성공률</a:t>
            </a:r>
            <a:r>
              <a:rPr lang="en-US" altLang="ko-KR" sz="1200" dirty="0"/>
              <a:t> </a:t>
            </a:r>
            <a:r>
              <a:rPr lang="ko-KR" altLang="en-US" sz="1200" dirty="0"/>
              <a:t>높은 순으로 국가 나열 및 상세 설명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160593-5E90-1A91-1F74-FABE572F00F1}"/>
              </a:ext>
            </a:extLst>
          </p:cNvPr>
          <p:cNvSpPr txBox="1"/>
          <p:nvPr/>
        </p:nvSpPr>
        <p:spPr>
          <a:xfrm>
            <a:off x="9510631" y="5218898"/>
            <a:ext cx="254655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0BA55C-BC81-163D-A67C-6E6D29DD45F6}"/>
              </a:ext>
            </a:extLst>
          </p:cNvPr>
          <p:cNvSpPr txBox="1"/>
          <p:nvPr/>
        </p:nvSpPr>
        <p:spPr>
          <a:xfrm>
            <a:off x="9518446" y="5528632"/>
            <a:ext cx="2546554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검색 버튼 </a:t>
            </a:r>
            <a:r>
              <a:rPr lang="en-US" altLang="ko-KR" sz="1200" dirty="0"/>
              <a:t>(</a:t>
            </a:r>
            <a:r>
              <a:rPr lang="ko-KR" altLang="en-US" sz="1200" dirty="0"/>
              <a:t>품목 검색 페이지</a:t>
            </a:r>
            <a:r>
              <a:rPr lang="en-US" altLang="ko-KR" sz="1200" dirty="0"/>
              <a:t>)</a:t>
            </a:r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추천 품목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즐겨찾기 버튼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수출하러 가기 버튼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상세 내용 영역</a:t>
            </a:r>
            <a:endParaRPr lang="en-US" altLang="ko-KR" sz="1200" dirty="0"/>
          </a:p>
        </p:txBody>
      </p:sp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558372-0BD1-BB55-4B6A-A43EC26610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44" t="20315" r="41979" b="60472"/>
          <a:stretch>
            <a:fillRect/>
          </a:stretch>
        </p:blipFill>
        <p:spPr>
          <a:xfrm>
            <a:off x="10595406" y="1163257"/>
            <a:ext cx="1061502" cy="558800"/>
          </a:xfrm>
          <a:prstGeom prst="rect">
            <a:avLst/>
          </a:prstGeom>
        </p:spPr>
      </p:pic>
      <p:pic>
        <p:nvPicPr>
          <p:cNvPr id="8" name="그림 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97852C-A4A3-0D3B-DE8D-6859AABB3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28" y="5543837"/>
            <a:ext cx="1975229" cy="1254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6A1117-7B18-8639-E08D-EAAD26A66ECF}"/>
              </a:ext>
            </a:extLst>
          </p:cNvPr>
          <p:cNvSpPr txBox="1"/>
          <p:nvPr/>
        </p:nvSpPr>
        <p:spPr>
          <a:xfrm>
            <a:off x="265952" y="2123431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로딩 화면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3BB8659-1A32-EC9B-1527-F53BEE328CB4}"/>
              </a:ext>
            </a:extLst>
          </p:cNvPr>
          <p:cNvSpPr/>
          <p:nvPr/>
        </p:nvSpPr>
        <p:spPr>
          <a:xfrm>
            <a:off x="4441090" y="2976726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973FA38-F56C-7912-C426-E0D2B047D4DC}"/>
              </a:ext>
            </a:extLst>
          </p:cNvPr>
          <p:cNvSpPr/>
          <p:nvPr/>
        </p:nvSpPr>
        <p:spPr>
          <a:xfrm>
            <a:off x="3267877" y="3351660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2F44AB3-3AE5-A719-1B12-D2F505063DCD}"/>
              </a:ext>
            </a:extLst>
          </p:cNvPr>
          <p:cNvSpPr/>
          <p:nvPr/>
        </p:nvSpPr>
        <p:spPr>
          <a:xfrm>
            <a:off x="8886090" y="2590646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3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5AC8539-4D52-BEB3-6CFF-C203D758D5F0}"/>
              </a:ext>
            </a:extLst>
          </p:cNvPr>
          <p:cNvSpPr/>
          <p:nvPr/>
        </p:nvSpPr>
        <p:spPr>
          <a:xfrm>
            <a:off x="10672751" y="2590646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4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CE79BA2-297A-F39C-B905-84413822E2A3}"/>
              </a:ext>
            </a:extLst>
          </p:cNvPr>
          <p:cNvSpPr/>
          <p:nvPr/>
        </p:nvSpPr>
        <p:spPr>
          <a:xfrm>
            <a:off x="8025139" y="2997143"/>
            <a:ext cx="3394701" cy="1182419"/>
          </a:xfrm>
          <a:prstGeom prst="roundRect">
            <a:avLst>
              <a:gd name="adj" fmla="val 6410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B84B269-F35E-1B5A-F34B-ACF3179B062C}"/>
              </a:ext>
            </a:extLst>
          </p:cNvPr>
          <p:cNvSpPr/>
          <p:nvPr/>
        </p:nvSpPr>
        <p:spPr>
          <a:xfrm>
            <a:off x="7908442" y="2928574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5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AE2970-435A-2343-1E1C-80F136E263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51" y="2577620"/>
            <a:ext cx="1975230" cy="1301100"/>
          </a:xfrm>
          <a:prstGeom prst="rect">
            <a:avLst/>
          </a:prstGeom>
        </p:spPr>
      </p:pic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C59098-A4FA-4CE2-918C-F4300FFBEE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28" y="4060729"/>
            <a:ext cx="1975229" cy="130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1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0AF4C-4ACF-E30F-C886-95549935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D4BB4D-09D0-60F3-4305-41DDB17F6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282" y="1393667"/>
            <a:ext cx="4393882" cy="27985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03B22B4-0305-9C1C-5C04-75F6D8911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048" y="2731669"/>
            <a:ext cx="2603284" cy="1143334"/>
          </a:xfrm>
          <a:prstGeom prst="rect">
            <a:avLst/>
          </a:prstGeom>
        </p:spPr>
      </p:pic>
      <p:pic>
        <p:nvPicPr>
          <p:cNvPr id="8" name="그림 7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DA9848-CE5F-DDDB-5C0B-DC8CD0A51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828" y="1395771"/>
            <a:ext cx="4393881" cy="27773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63B8BF7-A771-B416-539C-958E51B4BD3A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63A2E4-A7AA-697F-5905-7EB69152BE64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942FA72-0C2C-0F27-8FF7-6F9FE6C9F207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B8CC80-9B57-24E1-27F5-B700223CFB61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FB939D-7274-BA5B-0AF6-58C47912B65F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015CDE6-55C4-E709-4E45-2C36C2B9FA55}"/>
              </a:ext>
            </a:extLst>
          </p:cNvPr>
          <p:cNvGrpSpPr/>
          <p:nvPr/>
        </p:nvGrpSpPr>
        <p:grpSpPr>
          <a:xfrm>
            <a:off x="276836" y="1283534"/>
            <a:ext cx="2281523" cy="608077"/>
            <a:chOff x="276836" y="1474033"/>
            <a:chExt cx="2281523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D48C18-DA06-9797-B49D-277E2BF5130A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BDFE6F-04BB-2C99-15B0-F755DA8BAC90}"/>
                </a:ext>
              </a:extLst>
            </p:cNvPr>
            <p:cNvSpPr txBox="1"/>
            <p:nvPr/>
          </p:nvSpPr>
          <p:spPr>
            <a:xfrm>
              <a:off x="276836" y="1805111"/>
              <a:ext cx="2281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중개플랫폼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F78F4DB-0EA6-A2AE-DA65-3BE5ABFF345D}"/>
              </a:ext>
            </a:extLst>
          </p:cNvPr>
          <p:cNvSpPr txBox="1"/>
          <p:nvPr/>
        </p:nvSpPr>
        <p:spPr>
          <a:xfrm>
            <a:off x="3020037" y="52052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A70AB9-BA78-A447-DED5-046D85F54A46}"/>
              </a:ext>
            </a:extLst>
          </p:cNvPr>
          <p:cNvSpPr txBox="1"/>
          <p:nvPr/>
        </p:nvSpPr>
        <p:spPr>
          <a:xfrm>
            <a:off x="3020037" y="26236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중개플랫폼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D0809C-C353-DCE1-EC04-A9D2AA4D659B}"/>
              </a:ext>
            </a:extLst>
          </p:cNvPr>
          <p:cNvSpPr txBox="1"/>
          <p:nvPr/>
        </p:nvSpPr>
        <p:spPr>
          <a:xfrm>
            <a:off x="3993350" y="5218898"/>
            <a:ext cx="3152516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중개플랫폼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CEDCBB-67F1-DEE2-F60A-3760B66C0E3F}"/>
              </a:ext>
            </a:extLst>
          </p:cNvPr>
          <p:cNvSpPr txBox="1"/>
          <p:nvPr/>
        </p:nvSpPr>
        <p:spPr>
          <a:xfrm>
            <a:off x="4015014" y="5527637"/>
            <a:ext cx="5670852" cy="129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>
                <a:effectLst/>
              </a:rPr>
              <a:t>사용자가 </a:t>
            </a:r>
            <a:r>
              <a:rPr lang="ko-KR" altLang="en-US" sz="1100" dirty="0"/>
              <a:t>중개 플랫폼 </a:t>
            </a:r>
            <a:r>
              <a:rPr lang="en-US" altLang="ko-KR" sz="1100" dirty="0"/>
              <a:t>/ </a:t>
            </a:r>
            <a:r>
              <a:rPr lang="ko-KR" altLang="en-US" sz="1100" dirty="0"/>
              <a:t>수출하러 가기 </a:t>
            </a:r>
            <a:r>
              <a:rPr lang="ko-KR" altLang="en-US" sz="1100" dirty="0">
                <a:effectLst/>
              </a:rPr>
              <a:t>클릭 시 나오는 화면</a:t>
            </a:r>
            <a:endParaRPr lang="en-US" altLang="ko-KR" sz="11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/>
              <a:t>아마존</a:t>
            </a:r>
            <a:r>
              <a:rPr lang="en-US" altLang="ko-KR" sz="1100" dirty="0"/>
              <a:t>/</a:t>
            </a:r>
            <a:r>
              <a:rPr lang="ko-KR" altLang="en-US" sz="1100" dirty="0" err="1"/>
              <a:t>쇼피의</a:t>
            </a:r>
            <a:r>
              <a:rPr lang="ko-KR" altLang="en-US" sz="1100" dirty="0"/>
              <a:t> 판매 등록 가이드 단계별로 알려줌</a:t>
            </a:r>
            <a:endParaRPr lang="en-US" altLang="ko-KR" sz="11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/>
              <a:t>상단에 상품 입력 상태 볼 수 있음</a:t>
            </a:r>
            <a:endParaRPr lang="en-US" altLang="ko-KR" sz="11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/>
              <a:t>유저가 입력폼에 다 입력 시 번역하기 버튼 누르면 영어로 번역</a:t>
            </a:r>
            <a:endParaRPr lang="en-US" altLang="ko-KR" sz="11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/>
              <a:t>복사하기 버튼으로 해당 플랫폼에 붙여넣기 가능</a:t>
            </a:r>
            <a:endParaRPr lang="en-US" altLang="ko-KR" sz="11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/>
              <a:t>완료 버튼 클릭 → 게시글 등록 </a:t>
            </a:r>
            <a:r>
              <a:rPr lang="en-US" altLang="ko-KR" sz="1100" dirty="0"/>
              <a:t>/ </a:t>
            </a:r>
            <a:r>
              <a:rPr lang="ko-KR" altLang="en-US" sz="1100" dirty="0"/>
              <a:t>내 상품 리스트에 추가</a:t>
            </a:r>
            <a:endParaRPr lang="en-US" altLang="ko-KR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580881-63FD-C660-68BB-F3C307A3D975}"/>
              </a:ext>
            </a:extLst>
          </p:cNvPr>
          <p:cNvSpPr txBox="1"/>
          <p:nvPr/>
        </p:nvSpPr>
        <p:spPr>
          <a:xfrm>
            <a:off x="8821692" y="5218898"/>
            <a:ext cx="254655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01F66-D603-A360-E92C-88DDFF735F89}"/>
              </a:ext>
            </a:extLst>
          </p:cNvPr>
          <p:cNvSpPr txBox="1"/>
          <p:nvPr/>
        </p:nvSpPr>
        <p:spPr>
          <a:xfrm>
            <a:off x="8829507" y="5528632"/>
            <a:ext cx="1672239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가이드 </a:t>
            </a:r>
            <a:r>
              <a:rPr lang="ko-KR" altLang="en-US" sz="1200" dirty="0" err="1"/>
              <a:t>네비</a:t>
            </a:r>
            <a:r>
              <a:rPr lang="en-US" altLang="ko-KR" sz="1200" dirty="0"/>
              <a:t> </a:t>
            </a:r>
            <a:r>
              <a:rPr lang="ko-KR" altLang="en-US" sz="1200" dirty="0"/>
              <a:t>바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입력 상태 확인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번역하기 버튼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lang="ko-KR" altLang="en-US" sz="1200" dirty="0"/>
              <a:t>가이드 상세 내용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FontTx/>
              <a:buAutoNum type="arabicParenR"/>
            </a:pPr>
            <a:r>
              <a:rPr lang="ko-KR" altLang="en-US" sz="1200" dirty="0"/>
              <a:t>복사하기 버튼</a:t>
            </a:r>
            <a:endParaRPr lang="en-US" altLang="ko-KR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40B89A7-0715-DB67-54E8-7C6AFAAF9704}"/>
              </a:ext>
            </a:extLst>
          </p:cNvPr>
          <p:cNvSpPr/>
          <p:nvPr/>
        </p:nvSpPr>
        <p:spPr>
          <a:xfrm>
            <a:off x="3377736" y="1857375"/>
            <a:ext cx="962490" cy="2178295"/>
          </a:xfrm>
          <a:prstGeom prst="roundRect">
            <a:avLst>
              <a:gd name="adj" fmla="val 4639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B2C45E-D0BE-0525-EDCF-B78BC36ABECA}"/>
              </a:ext>
            </a:extLst>
          </p:cNvPr>
          <p:cNvSpPr/>
          <p:nvPr/>
        </p:nvSpPr>
        <p:spPr>
          <a:xfrm>
            <a:off x="4491038" y="1857375"/>
            <a:ext cx="2297906" cy="276225"/>
          </a:xfrm>
          <a:prstGeom prst="roundRect">
            <a:avLst>
              <a:gd name="adj" fmla="val 6618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AAD397E-5AF5-98CC-F174-F91767001ADD}"/>
              </a:ext>
            </a:extLst>
          </p:cNvPr>
          <p:cNvSpPr/>
          <p:nvPr/>
        </p:nvSpPr>
        <p:spPr>
          <a:xfrm>
            <a:off x="4491038" y="2215859"/>
            <a:ext cx="2297906" cy="1819811"/>
          </a:xfrm>
          <a:prstGeom prst="roundRect">
            <a:avLst>
              <a:gd name="adj" fmla="val 1384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5026513-EB6D-E908-BBBD-803694AB4F4C}"/>
              </a:ext>
            </a:extLst>
          </p:cNvPr>
          <p:cNvSpPr/>
          <p:nvPr/>
        </p:nvSpPr>
        <p:spPr>
          <a:xfrm>
            <a:off x="8953500" y="3012189"/>
            <a:ext cx="2489200" cy="171139"/>
          </a:xfrm>
          <a:prstGeom prst="roundRect">
            <a:avLst>
              <a:gd name="adj" fmla="val 10660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97FE98-B24F-90CF-9AF4-96573CFA376E}"/>
              </a:ext>
            </a:extLst>
          </p:cNvPr>
          <p:cNvSpPr/>
          <p:nvPr/>
        </p:nvSpPr>
        <p:spPr>
          <a:xfrm>
            <a:off x="8953500" y="3221750"/>
            <a:ext cx="2489200" cy="341336"/>
          </a:xfrm>
          <a:prstGeom prst="roundRect">
            <a:avLst>
              <a:gd name="adj" fmla="val 5751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D6ECFAE-AC52-B39C-D27E-6A79C2ABBCE2}"/>
              </a:ext>
            </a:extLst>
          </p:cNvPr>
          <p:cNvSpPr/>
          <p:nvPr/>
        </p:nvSpPr>
        <p:spPr>
          <a:xfrm>
            <a:off x="4392279" y="1765122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865EC5E-9730-2310-45C8-6F9FC7D643E5}"/>
              </a:ext>
            </a:extLst>
          </p:cNvPr>
          <p:cNvSpPr/>
          <p:nvPr/>
        </p:nvSpPr>
        <p:spPr>
          <a:xfrm>
            <a:off x="6265529" y="1817509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3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55FEB8D-1245-FFB3-A47D-F86E763DC1F8}"/>
              </a:ext>
            </a:extLst>
          </p:cNvPr>
          <p:cNvSpPr/>
          <p:nvPr/>
        </p:nvSpPr>
        <p:spPr>
          <a:xfrm>
            <a:off x="4392279" y="2147215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4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952D78B-4C90-7A23-D6DA-0FA8011542E8}"/>
              </a:ext>
            </a:extLst>
          </p:cNvPr>
          <p:cNvSpPr/>
          <p:nvPr/>
        </p:nvSpPr>
        <p:spPr>
          <a:xfrm>
            <a:off x="8692196" y="2997390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7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32FB365-63C5-9DF9-92DB-B1C1F0E16EB5}"/>
              </a:ext>
            </a:extLst>
          </p:cNvPr>
          <p:cNvSpPr/>
          <p:nvPr/>
        </p:nvSpPr>
        <p:spPr>
          <a:xfrm>
            <a:off x="8692196" y="3292225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8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BF8033-73E0-622C-8DD3-398B6DCFCCF7}"/>
              </a:ext>
            </a:extLst>
          </p:cNvPr>
          <p:cNvSpPr/>
          <p:nvPr/>
        </p:nvSpPr>
        <p:spPr>
          <a:xfrm>
            <a:off x="8821692" y="3622865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9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2482D6-8813-E1A1-B952-167DA1BF42A1}"/>
              </a:ext>
            </a:extLst>
          </p:cNvPr>
          <p:cNvSpPr txBox="1"/>
          <p:nvPr/>
        </p:nvSpPr>
        <p:spPr>
          <a:xfrm>
            <a:off x="4532074" y="308372"/>
            <a:ext cx="5666026" cy="51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dirty="0"/>
              <a:t>기본 </a:t>
            </a:r>
            <a:r>
              <a:rPr lang="en-US" altLang="ko-KR" sz="1200" dirty="0" err="1"/>
              <a:t>GlobalGo</a:t>
            </a:r>
            <a:r>
              <a:rPr lang="en-US" altLang="ko-KR" sz="1200" dirty="0"/>
              <a:t> </a:t>
            </a:r>
            <a:r>
              <a:rPr lang="ko-KR" altLang="en-US" sz="1200" dirty="0"/>
              <a:t>게시판에 상품 등록 적용 </a:t>
            </a:r>
            <a:r>
              <a:rPr lang="en-US" altLang="ko-KR" sz="1200" dirty="0"/>
              <a:t>(URL </a:t>
            </a:r>
            <a:r>
              <a:rPr lang="ko-KR" altLang="en-US" sz="1200" dirty="0" err="1"/>
              <a:t>미기입</a:t>
            </a:r>
            <a:r>
              <a:rPr lang="ko-KR" altLang="en-US" sz="1200" dirty="0"/>
              <a:t> 시 해당 링크 이동 제한</a:t>
            </a:r>
            <a:r>
              <a:rPr lang="en-US" altLang="ko-KR" sz="12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dirty="0"/>
              <a:t>한국</a:t>
            </a:r>
            <a:r>
              <a:rPr lang="en-US" altLang="ko-KR" sz="1200" dirty="0"/>
              <a:t>/</a:t>
            </a:r>
            <a:r>
              <a:rPr lang="ko-KR" altLang="en-US" sz="1200" dirty="0"/>
              <a:t>해외 게시판에 둘 다 올라감 </a:t>
            </a:r>
            <a:r>
              <a:rPr lang="en-US" altLang="ko-KR" sz="1200" dirty="0"/>
              <a:t>(</a:t>
            </a:r>
            <a:r>
              <a:rPr lang="ko-KR" altLang="en-US" sz="1200" dirty="0"/>
              <a:t>해외는 영어로</a:t>
            </a:r>
            <a:r>
              <a:rPr lang="en-US" altLang="ko-KR" sz="1200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FDE373-5474-6B8D-EBB4-7C1204A75A62}"/>
              </a:ext>
            </a:extLst>
          </p:cNvPr>
          <p:cNvSpPr txBox="1"/>
          <p:nvPr/>
        </p:nvSpPr>
        <p:spPr>
          <a:xfrm>
            <a:off x="10454586" y="5528632"/>
            <a:ext cx="1616501" cy="1400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6) </a:t>
            </a:r>
            <a:r>
              <a:rPr lang="ko-KR" altLang="en-US" sz="1200" dirty="0"/>
              <a:t>플랫폼 이동 버튼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7) </a:t>
            </a:r>
            <a:r>
              <a:rPr lang="ko-KR" altLang="en-US" sz="1200" dirty="0"/>
              <a:t>게시물 등록 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    </a:t>
            </a:r>
            <a:r>
              <a:rPr lang="ko-KR" altLang="en-US" sz="1200" dirty="0"/>
              <a:t>체크 유무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/>
              <a:t>8) </a:t>
            </a:r>
            <a:r>
              <a:rPr lang="ko-KR" altLang="en-US" sz="1200" dirty="0"/>
              <a:t>상품 </a:t>
            </a:r>
            <a:r>
              <a:rPr lang="en-US" altLang="ko-KR" sz="1200" dirty="0"/>
              <a:t>URL</a:t>
            </a:r>
          </a:p>
          <a:p>
            <a:pPr>
              <a:lnSpc>
                <a:spcPct val="120000"/>
              </a:lnSpc>
            </a:pPr>
            <a:r>
              <a:rPr lang="en-US" altLang="ko-KR" sz="1200" dirty="0"/>
              <a:t>9) </a:t>
            </a:r>
            <a:r>
              <a:rPr lang="ko-KR" altLang="en-US" sz="1200" dirty="0"/>
              <a:t>완료 버튼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endParaRPr lang="en-US" altLang="ko-KR" sz="1200" dirty="0"/>
          </a:p>
        </p:txBody>
      </p:sp>
      <p:pic>
        <p:nvPicPr>
          <p:cNvPr id="4" name="그림 3" descr="텍스트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60929C-9587-26C2-B9EA-AB7786469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779" y="2331585"/>
            <a:ext cx="225314" cy="98879"/>
          </a:xfrm>
          <a:prstGeom prst="rect">
            <a:avLst/>
          </a:prstGeom>
        </p:spPr>
      </p:pic>
      <p:pic>
        <p:nvPicPr>
          <p:cNvPr id="5" name="그림 4" descr="텍스트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56D426-DFCB-D3E5-F1A2-8C4ACD708F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779" y="3661539"/>
            <a:ext cx="225314" cy="98879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6A85ACD-7362-A382-6997-19EE9312788F}"/>
              </a:ext>
            </a:extLst>
          </p:cNvPr>
          <p:cNvSpPr/>
          <p:nvPr/>
        </p:nvSpPr>
        <p:spPr>
          <a:xfrm>
            <a:off x="6487779" y="2331585"/>
            <a:ext cx="225314" cy="110755"/>
          </a:xfrm>
          <a:prstGeom prst="roundRect">
            <a:avLst>
              <a:gd name="adj" fmla="val 14285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92D9475-D71C-043A-4B81-72EED462CF90}"/>
              </a:ext>
            </a:extLst>
          </p:cNvPr>
          <p:cNvSpPr/>
          <p:nvPr/>
        </p:nvSpPr>
        <p:spPr>
          <a:xfrm>
            <a:off x="6290262" y="2198505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5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B173F82-BA63-69E3-65F8-82A4403E1165}"/>
              </a:ext>
            </a:extLst>
          </p:cNvPr>
          <p:cNvSpPr/>
          <p:nvPr/>
        </p:nvSpPr>
        <p:spPr>
          <a:xfrm>
            <a:off x="8953500" y="2779103"/>
            <a:ext cx="2489200" cy="171139"/>
          </a:xfrm>
          <a:prstGeom prst="roundRect">
            <a:avLst>
              <a:gd name="adj" fmla="val 10660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145D6DB-927C-F4A8-CBD2-18715E1A35E8}"/>
              </a:ext>
            </a:extLst>
          </p:cNvPr>
          <p:cNvSpPr/>
          <p:nvPr/>
        </p:nvSpPr>
        <p:spPr>
          <a:xfrm>
            <a:off x="8692196" y="2764304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6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80E21B-087F-6B58-9F8F-38F644E02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2015" y="1642741"/>
            <a:ext cx="1015186" cy="154383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85722CB8-EB05-8174-1D32-715F718509A0}"/>
              </a:ext>
            </a:extLst>
          </p:cNvPr>
          <p:cNvSpPr/>
          <p:nvPr/>
        </p:nvSpPr>
        <p:spPr>
          <a:xfrm>
            <a:off x="3253384" y="1765122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F7D93670-01A7-BBE5-6929-8E1F54B42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6907" y="1642741"/>
            <a:ext cx="1015186" cy="15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92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47C19-3813-C6DF-D637-FF3797EF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텍스트, 스크린샷, 신발류, 하이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634199-153E-DB6D-43C8-B59583F30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06" y="1721918"/>
            <a:ext cx="4429194" cy="2441958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CC214C-7D8B-2A37-672F-5D93DE1AA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387" y="1729167"/>
            <a:ext cx="4273244" cy="2434709"/>
          </a:xfrm>
          <a:prstGeom prst="rect">
            <a:avLst/>
          </a:prstGeom>
          <a:ln>
            <a:noFill/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C17AF8F-67CB-0AFC-D83D-7C1A01D88119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CACB287-0683-C000-EA0D-FE5C5A4B7B93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1150444-3E17-B497-BD11-4BB27C1B50E8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F6DFB7-2B53-8B05-D912-1E8D20A29C42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723197-34B3-DC31-168C-185D032002EB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0181B9B-8AD0-FB90-8ED7-3039E4612FD0}"/>
              </a:ext>
            </a:extLst>
          </p:cNvPr>
          <p:cNvGrpSpPr/>
          <p:nvPr/>
        </p:nvGrpSpPr>
        <p:grpSpPr>
          <a:xfrm>
            <a:off x="276836" y="1283534"/>
            <a:ext cx="2281523" cy="608077"/>
            <a:chOff x="276836" y="1474033"/>
            <a:chExt cx="2281523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24F90F-0CCE-3631-7851-8A19A672DE96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0D2CE4-9826-C272-E664-E702EC0764B3}"/>
                </a:ext>
              </a:extLst>
            </p:cNvPr>
            <p:cNvSpPr txBox="1"/>
            <p:nvPr/>
          </p:nvSpPr>
          <p:spPr>
            <a:xfrm>
              <a:off x="276836" y="1805111"/>
              <a:ext cx="2281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상품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711923A-D926-DF65-92C0-EA9B475A1BC0}"/>
              </a:ext>
            </a:extLst>
          </p:cNvPr>
          <p:cNvSpPr txBox="1"/>
          <p:nvPr/>
        </p:nvSpPr>
        <p:spPr>
          <a:xfrm>
            <a:off x="3020037" y="52052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10F343-13C0-FCDA-1381-22365B3DE28C}"/>
              </a:ext>
            </a:extLst>
          </p:cNvPr>
          <p:cNvSpPr txBox="1"/>
          <p:nvPr/>
        </p:nvSpPr>
        <p:spPr>
          <a:xfrm>
            <a:off x="3020037" y="26236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상품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9A4FEE-3D2E-543D-5371-B8D8619F5391}"/>
              </a:ext>
            </a:extLst>
          </p:cNvPr>
          <p:cNvSpPr txBox="1"/>
          <p:nvPr/>
        </p:nvSpPr>
        <p:spPr>
          <a:xfrm>
            <a:off x="3993350" y="5218898"/>
            <a:ext cx="3152516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상품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B44EA6-4BCD-110E-CB82-019AC142AB1B}"/>
              </a:ext>
            </a:extLst>
          </p:cNvPr>
          <p:cNvSpPr txBox="1"/>
          <p:nvPr/>
        </p:nvSpPr>
        <p:spPr>
          <a:xfrm>
            <a:off x="4015014" y="5527637"/>
            <a:ext cx="5670852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중개 플랫폼</a:t>
            </a:r>
            <a:r>
              <a:rPr lang="en-US" altLang="ko-KR" sz="1200" dirty="0"/>
              <a:t> / </a:t>
            </a:r>
            <a:r>
              <a:rPr lang="ko-KR" altLang="en-US" sz="1200" dirty="0" err="1"/>
              <a:t>챗봇에서</a:t>
            </a:r>
            <a:r>
              <a:rPr lang="ko-KR" altLang="en-US" sz="1200" dirty="0"/>
              <a:t> 게시물 등록 시 게시 되는 상품</a:t>
            </a:r>
            <a:br>
              <a:rPr lang="en-US" altLang="ko-KR" sz="1200" dirty="0"/>
            </a:br>
            <a:r>
              <a:rPr lang="ko-KR" altLang="en-US" sz="1200" dirty="0"/>
              <a:t>리스트들 모음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국내게시판 </a:t>
            </a:r>
            <a:r>
              <a:rPr lang="en-US" altLang="ko-KR" sz="1200" dirty="0"/>
              <a:t>/ </a:t>
            </a:r>
            <a:r>
              <a:rPr lang="ko-KR" altLang="en-US" sz="1200" dirty="0"/>
              <a:t>해외게시판 선택 가능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해외게시판은 영어로 </a:t>
            </a:r>
            <a:r>
              <a:rPr lang="ko-KR" altLang="en-US" sz="1200" dirty="0" err="1"/>
              <a:t>기재되어있음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썸네일 → 상세 페이지에서 상품 보러 가기 </a:t>
            </a:r>
            <a:r>
              <a:rPr lang="en-US" altLang="ko-KR" sz="1200" dirty="0"/>
              <a:t>(</a:t>
            </a:r>
            <a:r>
              <a:rPr lang="ko-KR" altLang="en-US" sz="1200" dirty="0"/>
              <a:t>해당 플랫폼 사이트</a:t>
            </a:r>
            <a:r>
              <a:rPr lang="en-US" altLang="ko-KR" sz="1200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4DB902-BF46-F734-FB11-66929A4FCD56}"/>
              </a:ext>
            </a:extLst>
          </p:cNvPr>
          <p:cNvSpPr txBox="1"/>
          <p:nvPr/>
        </p:nvSpPr>
        <p:spPr>
          <a:xfrm>
            <a:off x="9171963" y="5218898"/>
            <a:ext cx="254655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F29137-9054-F376-5D08-FBA13F1A8FF2}"/>
              </a:ext>
            </a:extLst>
          </p:cNvPr>
          <p:cNvSpPr txBox="1"/>
          <p:nvPr/>
        </p:nvSpPr>
        <p:spPr>
          <a:xfrm>
            <a:off x="9179778" y="5528632"/>
            <a:ext cx="2313722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전체</a:t>
            </a:r>
            <a:r>
              <a:rPr lang="en-US" altLang="ko-KR" sz="1200" dirty="0"/>
              <a:t>/</a:t>
            </a:r>
            <a:r>
              <a:rPr lang="ko-KR" altLang="en-US" sz="1200" dirty="0"/>
              <a:t>국내용</a:t>
            </a:r>
            <a:r>
              <a:rPr lang="en-US" altLang="ko-KR" sz="1200" dirty="0"/>
              <a:t>/</a:t>
            </a:r>
            <a:r>
              <a:rPr lang="ko-KR" altLang="en-US" sz="1200" dirty="0"/>
              <a:t>해외용 게시물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상품 리스트들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돌아가기 버튼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상품 상세 내용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상품 보러 가기 버튼</a:t>
            </a:r>
            <a:endParaRPr lang="en-US" altLang="ko-KR" sz="12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2DEE738-2C28-AEA3-F8B0-6553DD8992BF}"/>
              </a:ext>
            </a:extLst>
          </p:cNvPr>
          <p:cNvSpPr/>
          <p:nvPr/>
        </p:nvSpPr>
        <p:spPr>
          <a:xfrm>
            <a:off x="3615072" y="2510842"/>
            <a:ext cx="3248008" cy="1666649"/>
          </a:xfrm>
          <a:prstGeom prst="roundRect">
            <a:avLst>
              <a:gd name="adj" fmla="val 4639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66D62A5-670A-F009-349C-6BE467F79273}"/>
              </a:ext>
            </a:extLst>
          </p:cNvPr>
          <p:cNvSpPr/>
          <p:nvPr/>
        </p:nvSpPr>
        <p:spPr>
          <a:xfrm>
            <a:off x="3496132" y="2461136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C21428-9A7E-9F15-1C77-699970B8501F}"/>
              </a:ext>
            </a:extLst>
          </p:cNvPr>
          <p:cNvSpPr txBox="1"/>
          <p:nvPr/>
        </p:nvSpPr>
        <p:spPr>
          <a:xfrm>
            <a:off x="4532074" y="308372"/>
            <a:ext cx="5666026" cy="51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· </a:t>
            </a:r>
            <a:r>
              <a:rPr lang="ko-KR" altLang="en-US" sz="1200" dirty="0"/>
              <a:t>기본 </a:t>
            </a:r>
            <a:r>
              <a:rPr lang="en-US" altLang="ko-KR" sz="1200" dirty="0" err="1"/>
              <a:t>GlobalGo</a:t>
            </a:r>
            <a:r>
              <a:rPr lang="en-US" altLang="ko-KR" sz="1200" dirty="0"/>
              <a:t> </a:t>
            </a:r>
            <a:r>
              <a:rPr lang="ko-KR" altLang="en-US" sz="1200" dirty="0"/>
              <a:t>게시판에 상품 등록 적용 </a:t>
            </a:r>
            <a:r>
              <a:rPr lang="en-US" altLang="ko-KR" sz="1200" dirty="0"/>
              <a:t>(URL </a:t>
            </a:r>
            <a:r>
              <a:rPr lang="ko-KR" altLang="en-US" sz="1200" dirty="0" err="1"/>
              <a:t>미기입</a:t>
            </a:r>
            <a:r>
              <a:rPr lang="ko-KR" altLang="en-US" sz="1200" dirty="0"/>
              <a:t> 시 해당 링크 이동 제한</a:t>
            </a:r>
            <a:r>
              <a:rPr lang="en-US" altLang="ko-KR" sz="12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200" dirty="0"/>
              <a:t>·</a:t>
            </a:r>
            <a:r>
              <a:rPr lang="ko-KR" altLang="en-US" sz="1200" dirty="0"/>
              <a:t> 상품 </a:t>
            </a:r>
            <a:r>
              <a:rPr lang="ko-KR" altLang="en-US" sz="1200" dirty="0" err="1"/>
              <a:t>보러가기</a:t>
            </a:r>
            <a:r>
              <a:rPr lang="ko-KR" altLang="en-US" sz="1200" dirty="0"/>
              <a:t> → </a:t>
            </a:r>
            <a:r>
              <a:rPr lang="ko-KR" altLang="en-US" sz="1200" dirty="0" err="1"/>
              <a:t>쇼피</a:t>
            </a:r>
            <a:r>
              <a:rPr lang="ko-KR" altLang="en-US" sz="1200" dirty="0"/>
              <a:t> </a:t>
            </a:r>
            <a:r>
              <a:rPr lang="en-US" altLang="ko-KR" sz="1200" dirty="0"/>
              <a:t>or </a:t>
            </a:r>
            <a:r>
              <a:rPr lang="ko-KR" altLang="en-US" sz="1200" dirty="0"/>
              <a:t>아마존 판매 사이트 링크로 이동</a:t>
            </a:r>
            <a:endParaRPr lang="en-US" altLang="ko-KR" sz="12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329B12-B779-1147-36C2-0320A6031636}"/>
              </a:ext>
            </a:extLst>
          </p:cNvPr>
          <p:cNvSpPr/>
          <p:nvPr/>
        </p:nvSpPr>
        <p:spPr>
          <a:xfrm flipV="1">
            <a:off x="3635077" y="2286500"/>
            <a:ext cx="822623" cy="135696"/>
          </a:xfrm>
          <a:prstGeom prst="roundRect">
            <a:avLst>
              <a:gd name="adj" fmla="val 17305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606F5D4-29CC-72F8-097E-933D74F4B35F}"/>
              </a:ext>
            </a:extLst>
          </p:cNvPr>
          <p:cNvSpPr/>
          <p:nvPr/>
        </p:nvSpPr>
        <p:spPr>
          <a:xfrm>
            <a:off x="3395249" y="2240026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5E482BC-3250-88BF-E955-E7D2BFE28250}"/>
              </a:ext>
            </a:extLst>
          </p:cNvPr>
          <p:cNvSpPr/>
          <p:nvPr/>
        </p:nvSpPr>
        <p:spPr>
          <a:xfrm>
            <a:off x="7790102" y="2549859"/>
            <a:ext cx="3943814" cy="1539542"/>
          </a:xfrm>
          <a:prstGeom prst="roundRect">
            <a:avLst>
              <a:gd name="adj" fmla="val 2010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846467C-9FC1-FB48-C9A2-768FA11024C7}"/>
              </a:ext>
            </a:extLst>
          </p:cNvPr>
          <p:cNvSpPr/>
          <p:nvPr/>
        </p:nvSpPr>
        <p:spPr>
          <a:xfrm>
            <a:off x="7790102" y="2364245"/>
            <a:ext cx="699848" cy="146597"/>
          </a:xfrm>
          <a:prstGeom prst="roundRect">
            <a:avLst>
              <a:gd name="adj" fmla="val 19258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8D6839A-C530-EFB6-864B-E4A8421AC818}"/>
              </a:ext>
            </a:extLst>
          </p:cNvPr>
          <p:cNvSpPr/>
          <p:nvPr/>
        </p:nvSpPr>
        <p:spPr>
          <a:xfrm>
            <a:off x="7552222" y="2339640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3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FA8E89C-1F06-3CF4-49F5-B852B1789A3A}"/>
              </a:ext>
            </a:extLst>
          </p:cNvPr>
          <p:cNvSpPr/>
          <p:nvPr/>
        </p:nvSpPr>
        <p:spPr>
          <a:xfrm>
            <a:off x="7552222" y="2648379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4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25AC02A-7730-3827-21D3-5E28CDF807DB}"/>
              </a:ext>
            </a:extLst>
          </p:cNvPr>
          <p:cNvSpPr/>
          <p:nvPr/>
        </p:nvSpPr>
        <p:spPr>
          <a:xfrm>
            <a:off x="9228622" y="3793271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5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8305C65-5F98-3DB7-2400-6819382B3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788" y="2068473"/>
            <a:ext cx="1554078" cy="24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87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C190-EF21-7D06-2447-D6FCD187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76F6905-A55B-F4BA-8436-79DCB29895CA}"/>
              </a:ext>
            </a:extLst>
          </p:cNvPr>
          <p:cNvSpPr/>
          <p:nvPr/>
        </p:nvSpPr>
        <p:spPr>
          <a:xfrm rot="10800000">
            <a:off x="0" y="-4"/>
            <a:ext cx="2742718" cy="6937698"/>
          </a:xfrm>
          <a:prstGeom prst="rect">
            <a:avLst/>
          </a:prstGeom>
          <a:gradFill flip="none" rotWithShape="1">
            <a:gsLst>
              <a:gs pos="0">
                <a:srgbClr val="6759B6"/>
              </a:gs>
              <a:gs pos="100000">
                <a:srgbClr val="C5BFE3"/>
              </a:gs>
              <a:gs pos="59000">
                <a:srgbClr val="897FC7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1" dirty="0"/>
              <a:t>           </a:t>
            </a:r>
            <a:endParaRPr lang="ko-KR" altLang="en-US" sz="1351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F12731-425B-EA3A-B844-639DE6C3F75E}"/>
              </a:ext>
            </a:extLst>
          </p:cNvPr>
          <p:cNvSpPr/>
          <p:nvPr/>
        </p:nvSpPr>
        <p:spPr>
          <a:xfrm>
            <a:off x="2743200" y="4984173"/>
            <a:ext cx="9448800" cy="1873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71131F-176E-4C24-6169-A7CB9B89DDF9}"/>
              </a:ext>
            </a:extLst>
          </p:cNvPr>
          <p:cNvGrpSpPr/>
          <p:nvPr/>
        </p:nvGrpSpPr>
        <p:grpSpPr>
          <a:xfrm>
            <a:off x="276836" y="269846"/>
            <a:ext cx="2281523" cy="792743"/>
            <a:chOff x="276836" y="269845"/>
            <a:chExt cx="2281523" cy="79274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1190BA3-7161-8E99-6D83-E43811E9BDB6}"/>
                </a:ext>
              </a:extLst>
            </p:cNvPr>
            <p:cNvSpPr txBox="1"/>
            <p:nvPr/>
          </p:nvSpPr>
          <p:spPr>
            <a:xfrm>
              <a:off x="276836" y="269845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>
                  <a:solidFill>
                    <a:schemeClr val="bg1"/>
                  </a:solidFill>
                </a:rPr>
                <a:t>프로젝트명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AFD0AD-B463-4DDE-4FC9-7CA863BBDB1F}"/>
                </a:ext>
              </a:extLst>
            </p:cNvPr>
            <p:cNvSpPr txBox="1"/>
            <p:nvPr/>
          </p:nvSpPr>
          <p:spPr>
            <a:xfrm>
              <a:off x="276836" y="600923"/>
              <a:ext cx="2281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Global Go</a:t>
              </a: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소상공인 </a:t>
              </a:r>
              <a:r>
                <a:rPr lang="en-US" altLang="ko-KR" sz="1200" dirty="0">
                  <a:solidFill>
                    <a:schemeClr val="bg1"/>
                  </a:solidFill>
                  <a:latin typeface="+mj-ea"/>
                </a:rPr>
                <a:t>AI </a:t>
              </a:r>
              <a:r>
                <a:rPr lang="ko-KR" altLang="en-US" sz="1200" dirty="0">
                  <a:solidFill>
                    <a:schemeClr val="bg1"/>
                  </a:solidFill>
                  <a:latin typeface="+mj-ea"/>
                </a:rPr>
                <a:t>수출 </a:t>
              </a:r>
              <a:r>
                <a:rPr lang="ko-KR" altLang="en-US" sz="1200" dirty="0" err="1">
                  <a:solidFill>
                    <a:schemeClr val="bg1"/>
                  </a:solidFill>
                  <a:latin typeface="+mj-ea"/>
                </a:rPr>
                <a:t>어드바이저</a:t>
              </a:r>
              <a:endParaRPr lang="en-US" altLang="ko-KR" sz="1200" dirty="0">
                <a:solidFill>
                  <a:schemeClr val="bg1"/>
                </a:solidFill>
                <a:latin typeface="+mj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B9E0F09-3B50-06A7-4B25-B6442CE1B9CD}"/>
              </a:ext>
            </a:extLst>
          </p:cNvPr>
          <p:cNvGrpSpPr/>
          <p:nvPr/>
        </p:nvGrpSpPr>
        <p:grpSpPr>
          <a:xfrm>
            <a:off x="276836" y="1283534"/>
            <a:ext cx="2281523" cy="608077"/>
            <a:chOff x="276836" y="1474033"/>
            <a:chExt cx="2281523" cy="6080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AC96B8-AEBC-FB80-EFDB-4FE389F05C5A}"/>
                </a:ext>
              </a:extLst>
            </p:cNvPr>
            <p:cNvSpPr txBox="1"/>
            <p:nvPr/>
          </p:nvSpPr>
          <p:spPr>
            <a:xfrm>
              <a:off x="276836" y="14740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solidFill>
                    <a:schemeClr val="bg1"/>
                  </a:solidFill>
                </a:rPr>
                <a:t>화면이름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A8ECE0-50D7-7E61-5123-9DCBCBB9885A}"/>
                </a:ext>
              </a:extLst>
            </p:cNvPr>
            <p:cNvSpPr txBox="1"/>
            <p:nvPr/>
          </p:nvSpPr>
          <p:spPr>
            <a:xfrm>
              <a:off x="276836" y="1805111"/>
              <a:ext cx="2281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>
                  <a:solidFill>
                    <a:schemeClr val="bg1"/>
                  </a:solidFill>
                </a:rPr>
                <a:t>챗봇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59C490-6BEB-21D4-D370-B1221E78BB3C}"/>
              </a:ext>
            </a:extLst>
          </p:cNvPr>
          <p:cNvSpPr txBox="1"/>
          <p:nvPr/>
        </p:nvSpPr>
        <p:spPr>
          <a:xfrm>
            <a:off x="3020037" y="520528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759B6"/>
                </a:solidFill>
              </a:rPr>
              <a:t>화면설명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65EA51-291E-1C9C-6982-67E4558E0270}"/>
              </a:ext>
            </a:extLst>
          </p:cNvPr>
          <p:cNvSpPr txBox="1"/>
          <p:nvPr/>
        </p:nvSpPr>
        <p:spPr>
          <a:xfrm>
            <a:off x="3020037" y="262369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rgbClr val="6759B6"/>
                </a:solidFill>
              </a:rPr>
              <a:t>챗봇</a:t>
            </a:r>
            <a:endParaRPr lang="ko-KR" altLang="en-US" sz="1600" b="1" dirty="0">
              <a:solidFill>
                <a:srgbClr val="6759B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67296E-323C-474F-D50C-196D40E14B17}"/>
              </a:ext>
            </a:extLst>
          </p:cNvPr>
          <p:cNvSpPr txBox="1"/>
          <p:nvPr/>
        </p:nvSpPr>
        <p:spPr>
          <a:xfrm>
            <a:off x="3993350" y="5218898"/>
            <a:ext cx="3152516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1. </a:t>
            </a:r>
            <a:r>
              <a:rPr lang="ko-KR" altLang="en-US" sz="1300" b="1" dirty="0" err="1">
                <a:latin typeface="+mn-ea"/>
                <a:cs typeface="ADLaM Display" panose="020F0502020204030204" pitchFamily="2" charset="0"/>
              </a:rPr>
              <a:t>챗봇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 화면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0D980A-E3AE-3811-AC94-BC592D35E92E}"/>
              </a:ext>
            </a:extLst>
          </p:cNvPr>
          <p:cNvSpPr txBox="1"/>
          <p:nvPr/>
        </p:nvSpPr>
        <p:spPr>
          <a:xfrm>
            <a:off x="4015014" y="5527637"/>
            <a:ext cx="5670852" cy="95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상단에 </a:t>
            </a:r>
            <a:r>
              <a:rPr lang="ko-KR" altLang="en-US" sz="1200" dirty="0" err="1">
                <a:effectLst/>
              </a:rPr>
              <a:t>챗봇</a:t>
            </a:r>
            <a:r>
              <a:rPr lang="ko-KR" altLang="en-US" sz="1200" dirty="0">
                <a:effectLst/>
              </a:rPr>
              <a:t> 이용 가이드 절차 알려주는 목차</a:t>
            </a:r>
            <a:endParaRPr lang="en-US" altLang="ko-KR" sz="1200" dirty="0">
              <a:effectLst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>
                <a:effectLst/>
              </a:rPr>
              <a:t>품목별 수출 유망 국가 추천 </a:t>
            </a:r>
            <a:r>
              <a:rPr lang="ko-KR" altLang="en-US" sz="1200" dirty="0" err="1">
                <a:effectLst/>
              </a:rPr>
              <a:t>부터</a:t>
            </a:r>
            <a:r>
              <a:rPr lang="ko-KR" altLang="en-US" sz="1200" dirty="0"/>
              <a:t> 플랫폼 별 판매 등록</a:t>
            </a:r>
            <a:br>
              <a:rPr lang="en-US" altLang="ko-KR" sz="1200" dirty="0"/>
            </a:br>
            <a:r>
              <a:rPr lang="ko-KR" altLang="en-US" sz="1200" dirty="0"/>
              <a:t>가이드</a:t>
            </a:r>
            <a:r>
              <a:rPr lang="en-US" altLang="ko-KR" sz="1200" dirty="0"/>
              <a:t>, </a:t>
            </a:r>
            <a:r>
              <a:rPr lang="ko-KR" altLang="en-US" sz="1200" dirty="0"/>
              <a:t>게시글 작성까지 한 번에 가능한 </a:t>
            </a:r>
            <a:r>
              <a:rPr lang="ko-KR" altLang="en-US" sz="1200" dirty="0" err="1"/>
              <a:t>챗봇</a:t>
            </a:r>
            <a:r>
              <a:rPr lang="ko-KR" altLang="en-US" sz="1200" dirty="0"/>
              <a:t> 가이드 페이지</a:t>
            </a:r>
            <a:endParaRPr lang="en-US" altLang="ko-KR" sz="12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200" dirty="0"/>
              <a:t>유저가 채팅을 하면 그와 관련한 정보 </a:t>
            </a:r>
            <a:r>
              <a:rPr lang="ko-KR" altLang="en-US" sz="1200" dirty="0" err="1"/>
              <a:t>챗봇이</a:t>
            </a:r>
            <a:r>
              <a:rPr lang="ko-KR" altLang="en-US" sz="1200" dirty="0"/>
              <a:t> 알려줌</a:t>
            </a:r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8D7D9-688C-B03B-81EE-107E4DE7AC4D}"/>
              </a:ext>
            </a:extLst>
          </p:cNvPr>
          <p:cNvSpPr txBox="1"/>
          <p:nvPr/>
        </p:nvSpPr>
        <p:spPr>
          <a:xfrm>
            <a:off x="129054" y="3468845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chemeClr val="bg1"/>
                </a:solidFill>
              </a:rPr>
              <a:t>전체 화면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4AE7F9-C403-CFE1-3243-41C25FFF8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228" y="912892"/>
            <a:ext cx="5270744" cy="34761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BDD1C5-0576-F688-7F5B-D97455CE3E30}"/>
              </a:ext>
            </a:extLst>
          </p:cNvPr>
          <p:cNvSpPr txBox="1"/>
          <p:nvPr/>
        </p:nvSpPr>
        <p:spPr>
          <a:xfrm>
            <a:off x="9171963" y="5218898"/>
            <a:ext cx="254655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latin typeface="+mn-ea"/>
                <a:cs typeface="ADLaM Display" panose="020F0502020204030204" pitchFamily="2" charset="0"/>
              </a:rPr>
              <a:t>2. </a:t>
            </a:r>
            <a:r>
              <a:rPr lang="ko-KR" altLang="en-US" sz="1300" b="1" dirty="0">
                <a:latin typeface="+mn-ea"/>
                <a:cs typeface="ADLaM Display" panose="020F0502020204030204" pitchFamily="2" charset="0"/>
              </a:rPr>
              <a:t>화면 구성 요소</a:t>
            </a:r>
            <a:endParaRPr lang="en-US" altLang="ko-KR" sz="1300" b="1" dirty="0">
              <a:latin typeface="+mn-ea"/>
              <a:cs typeface="ADLaM Display" panose="020F05020202040302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981689-E129-7B8C-3D97-5B725E63251D}"/>
              </a:ext>
            </a:extLst>
          </p:cNvPr>
          <p:cNvSpPr txBox="1"/>
          <p:nvPr/>
        </p:nvSpPr>
        <p:spPr>
          <a:xfrm>
            <a:off x="9179778" y="5528632"/>
            <a:ext cx="2128173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/>
              <a:t>0) </a:t>
            </a:r>
            <a:r>
              <a:rPr lang="ko-KR" altLang="en-US" sz="1200" dirty="0" err="1"/>
              <a:t>챗봇</a:t>
            </a:r>
            <a:r>
              <a:rPr lang="ko-KR" altLang="en-US" sz="1200" dirty="0"/>
              <a:t> 이용 가이드 목차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 err="1"/>
              <a:t>챗봇</a:t>
            </a:r>
            <a:r>
              <a:rPr lang="ko-KR" altLang="en-US" sz="1200" dirty="0"/>
              <a:t> 채팅 창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유저 채팅 창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유저 채팅 입력 창</a:t>
            </a:r>
            <a:endParaRPr lang="en-US" altLang="ko-KR" sz="1200" dirty="0"/>
          </a:p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200" dirty="0"/>
              <a:t>전송 버튼</a:t>
            </a:r>
            <a:endParaRPr lang="en-US" altLang="ko-KR" sz="12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54F1807-C7E2-5ADE-2269-DF49BAE39CE0}"/>
              </a:ext>
            </a:extLst>
          </p:cNvPr>
          <p:cNvSpPr/>
          <p:nvPr/>
        </p:nvSpPr>
        <p:spPr>
          <a:xfrm>
            <a:off x="6129338" y="3264694"/>
            <a:ext cx="3105150" cy="504825"/>
          </a:xfrm>
          <a:prstGeom prst="roundRect">
            <a:avLst>
              <a:gd name="adj" fmla="val 13602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74E52EB-EF67-DB81-A967-3A0401537058}"/>
              </a:ext>
            </a:extLst>
          </p:cNvPr>
          <p:cNvSpPr/>
          <p:nvPr/>
        </p:nvSpPr>
        <p:spPr>
          <a:xfrm>
            <a:off x="6030579" y="3184998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2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1CA9EDE-0A66-C177-B4B2-BF964BE31FFE}"/>
              </a:ext>
            </a:extLst>
          </p:cNvPr>
          <p:cNvSpPr/>
          <p:nvPr/>
        </p:nvSpPr>
        <p:spPr>
          <a:xfrm>
            <a:off x="5590840" y="3869532"/>
            <a:ext cx="3105151" cy="305594"/>
          </a:xfrm>
          <a:prstGeom prst="roundRect">
            <a:avLst>
              <a:gd name="adj" fmla="val 13602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CAC9A6E-F8C8-1CE0-2D9A-7A4112B3A872}"/>
              </a:ext>
            </a:extLst>
          </p:cNvPr>
          <p:cNvSpPr/>
          <p:nvPr/>
        </p:nvSpPr>
        <p:spPr>
          <a:xfrm>
            <a:off x="8783638" y="3869532"/>
            <a:ext cx="508000" cy="305594"/>
          </a:xfrm>
          <a:prstGeom prst="roundRect">
            <a:avLst>
              <a:gd name="adj" fmla="val 13602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AAB6BC6-938F-E752-77A7-101DCBA0F45A}"/>
              </a:ext>
            </a:extLst>
          </p:cNvPr>
          <p:cNvSpPr/>
          <p:nvPr/>
        </p:nvSpPr>
        <p:spPr>
          <a:xfrm>
            <a:off x="5470849" y="3770773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3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C8CD97B-30A3-34D9-4EC7-74513009DBB3}"/>
              </a:ext>
            </a:extLst>
          </p:cNvPr>
          <p:cNvSpPr/>
          <p:nvPr/>
        </p:nvSpPr>
        <p:spPr>
          <a:xfrm>
            <a:off x="8666789" y="3777736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4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그림 4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AE2167-833A-C638-738D-2D2E1DBEC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603" y="2063006"/>
            <a:ext cx="3858222" cy="491754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0DC648C-EE6D-F256-336E-A1538F84A767}"/>
              </a:ext>
            </a:extLst>
          </p:cNvPr>
          <p:cNvSpPr/>
          <p:nvPr/>
        </p:nvSpPr>
        <p:spPr>
          <a:xfrm>
            <a:off x="5689600" y="2536648"/>
            <a:ext cx="3178175" cy="581201"/>
          </a:xfrm>
          <a:prstGeom prst="roundRect">
            <a:avLst>
              <a:gd name="adj" fmla="val 8121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B7A734-511C-EC9D-B8F0-78092ECE9E17}"/>
              </a:ext>
            </a:extLst>
          </p:cNvPr>
          <p:cNvSpPr/>
          <p:nvPr/>
        </p:nvSpPr>
        <p:spPr>
          <a:xfrm>
            <a:off x="5536603" y="2074467"/>
            <a:ext cx="3858221" cy="453965"/>
          </a:xfrm>
          <a:prstGeom prst="roundRect">
            <a:avLst>
              <a:gd name="adj" fmla="val 8121"/>
            </a:avLst>
          </a:prstGeom>
          <a:noFill/>
          <a:ln>
            <a:solidFill>
              <a:srgbClr val="FFE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8BBE830-F3F5-EDFE-1040-73995C4A9D47}"/>
              </a:ext>
            </a:extLst>
          </p:cNvPr>
          <p:cNvSpPr/>
          <p:nvPr/>
        </p:nvSpPr>
        <p:spPr>
          <a:xfrm>
            <a:off x="5590841" y="2468878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1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FEAA420-BE50-976F-2561-33A7510FB152}"/>
              </a:ext>
            </a:extLst>
          </p:cNvPr>
          <p:cNvSpPr/>
          <p:nvPr/>
        </p:nvSpPr>
        <p:spPr>
          <a:xfrm>
            <a:off x="5437843" y="1975398"/>
            <a:ext cx="197517" cy="197517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ysClr val="windowText" lastClr="000000"/>
                </a:solidFill>
              </a:rPr>
              <a:t>0</a:t>
            </a:r>
            <a:endParaRPr lang="ko-KR" altLang="en-US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14" name="그림 13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9107CF-306D-FD63-43CA-5870E2877B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1" r="8556"/>
          <a:stretch>
            <a:fillRect/>
          </a:stretch>
        </p:blipFill>
        <p:spPr>
          <a:xfrm>
            <a:off x="224102" y="3931565"/>
            <a:ext cx="2252937" cy="257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6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1188</Words>
  <Application>Microsoft Office PowerPoint</Application>
  <PresentationFormat>와이드스크린</PresentationFormat>
  <Paragraphs>293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효정 ♡</dc:creator>
  <cp:lastModifiedBy>효정 ♡</cp:lastModifiedBy>
  <cp:revision>60</cp:revision>
  <dcterms:created xsi:type="dcterms:W3CDTF">2025-06-14T18:31:48Z</dcterms:created>
  <dcterms:modified xsi:type="dcterms:W3CDTF">2025-07-08T03:02:40Z</dcterms:modified>
</cp:coreProperties>
</file>